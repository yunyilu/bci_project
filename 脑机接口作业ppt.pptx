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8" r:id="rId1"/>
  </p:sldMasterIdLst>
  <p:notesMasterIdLst>
    <p:notesMasterId r:id="rId7"/>
  </p:notesMasterIdLst>
  <p:sldIdLst>
    <p:sldId id="256" r:id="rId2"/>
    <p:sldId id="296" r:id="rId3"/>
    <p:sldId id="297" r:id="rId4"/>
    <p:sldId id="298" r:id="rId5"/>
    <p:sldId id="299"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BD2FB"/>
    <a:srgbClr val="FFD271"/>
    <a:srgbClr val="E7C46E"/>
    <a:srgbClr val="FEFDFF"/>
    <a:srgbClr val="0E419C"/>
    <a:srgbClr val="660874"/>
    <a:srgbClr val="5C307D"/>
    <a:srgbClr val="E1DF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01"/>
    <p:restoredTop sz="83647"/>
  </p:normalViewPr>
  <p:slideViewPr>
    <p:cSldViewPr snapToGrid="0" snapToObjects="1">
      <p:cViewPr>
        <p:scale>
          <a:sx n="100" d="100"/>
          <a:sy n="100" d="100"/>
        </p:scale>
        <p:origin x="58" y="-80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A51940-DB52-3B48-AABB-9C7938529E4E}" type="datetimeFigureOut">
              <a:rPr kumimoji="1" lang="zh-CN" altLang="en-US" smtClean="0"/>
              <a:t>2026/6/10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18717E-F74C-4246-A795-6577BEDC8382}" type="slidenum">
              <a:rPr kumimoji="1" lang="zh-CN" altLang="en-US" smtClean="0"/>
              <a:t>‹Nº›</a:t>
            </a:fld>
            <a:endParaRPr kumimoji="1" lang="zh-CN" altLang="en-US"/>
          </a:p>
        </p:txBody>
      </p:sp>
    </p:spTree>
    <p:extLst>
      <p:ext uri="{BB962C8B-B14F-4D97-AF65-F5344CB8AC3E}">
        <p14:creationId xmlns:p14="http://schemas.microsoft.com/office/powerpoint/2010/main" val="2015298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1</a:t>
            </a:fld>
            <a:endParaRPr kumimoji="1" lang="zh-CN" altLang="en-US"/>
          </a:p>
        </p:txBody>
      </p:sp>
    </p:spTree>
    <p:extLst>
      <p:ext uri="{BB962C8B-B14F-4D97-AF65-F5344CB8AC3E}">
        <p14:creationId xmlns:p14="http://schemas.microsoft.com/office/powerpoint/2010/main" val="3950798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346E7-33B6-51A1-80DE-6562C66511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979BA8-A632-DF68-C5C6-0C342967E7B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FF1688-3426-87C3-BC50-DD0B0FE07A78}"/>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这次作业的主题是从视网膜神经元的 </a:t>
            </a:r>
            <a:r>
              <a:rPr lang="en" altLang="zh-CN" sz="1200" b="0" i="0" kern="1200" dirty="0">
                <a:solidFill>
                  <a:schemeClr val="tx1"/>
                </a:solidFill>
                <a:effectLst/>
                <a:latin typeface="+mn-lt"/>
                <a:ea typeface="+mn-ea"/>
                <a:cs typeface="+mn-cs"/>
              </a:rPr>
              <a:t>spike activity </a:t>
            </a:r>
            <a:r>
              <a:rPr lang="zh-CN" altLang="en-US" sz="1200" b="0" i="0" kern="1200" dirty="0">
                <a:solidFill>
                  <a:schemeClr val="tx1"/>
                </a:solidFill>
                <a:effectLst/>
                <a:latin typeface="+mn-lt"/>
                <a:ea typeface="+mn-ea"/>
                <a:cs typeface="+mn-cs"/>
              </a:rPr>
              <a:t>中重建自然电影帧。</a:t>
            </a:r>
          </a:p>
          <a:p>
            <a:r>
              <a:rPr lang="zh-CN" altLang="en-US" sz="1200" b="0" i="0" kern="1200" dirty="0">
                <a:solidFill>
                  <a:schemeClr val="tx1"/>
                </a:solidFill>
                <a:effectLst/>
                <a:latin typeface="+mn-lt"/>
                <a:ea typeface="+mn-ea"/>
                <a:cs typeface="+mn-cs"/>
              </a:rPr>
              <a:t>我们有一组视网膜神经节细胞观看自然电影时产生的神经脉冲活动数据。我们的任务是把这些 </a:t>
            </a:r>
            <a:r>
              <a:rPr lang="en" altLang="zh-CN" sz="1200" b="0" i="0" kern="1200" dirty="0">
                <a:solidFill>
                  <a:schemeClr val="tx1"/>
                </a:solidFill>
                <a:effectLst/>
                <a:latin typeface="+mn-lt"/>
                <a:ea typeface="+mn-ea"/>
                <a:cs typeface="+mn-cs"/>
              </a:rPr>
              <a:t>spike </a:t>
            </a:r>
            <a:r>
              <a:rPr lang="zh-CN" altLang="en-US" sz="1200" b="0" i="0" kern="1200" dirty="0">
                <a:solidFill>
                  <a:schemeClr val="tx1"/>
                </a:solidFill>
                <a:effectLst/>
                <a:latin typeface="+mn-lt"/>
                <a:ea typeface="+mn-ea"/>
                <a:cs typeface="+mn-cs"/>
              </a:rPr>
              <a:t>数据作为输入，训练一个 </a:t>
            </a:r>
            <a:r>
              <a:rPr lang="en" altLang="zh-CN" sz="1200" b="0" i="0" kern="1200" dirty="0">
                <a:solidFill>
                  <a:schemeClr val="tx1"/>
                </a:solidFill>
                <a:effectLst/>
                <a:latin typeface="+mn-lt"/>
                <a:ea typeface="+mn-ea"/>
                <a:cs typeface="+mn-cs"/>
              </a:rPr>
              <a:t>decoder</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让它输出对应的自然电影图像。</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a:extLst>
              <a:ext uri="{FF2B5EF4-FFF2-40B4-BE49-F238E27FC236}">
                <a16:creationId xmlns:a16="http://schemas.microsoft.com/office/drawing/2014/main" id="{A751EA80-36AD-2BD1-F2B9-3696E68EDA95}"/>
              </a:ext>
            </a:extLst>
          </p:cNvPr>
          <p:cNvSpPr>
            <a:spLocks noGrp="1"/>
          </p:cNvSpPr>
          <p:nvPr>
            <p:ph type="sldNum" sz="quarter" idx="5"/>
          </p:nvPr>
        </p:nvSpPr>
        <p:spPr/>
        <p:txBody>
          <a:bodyPr/>
          <a:lstStyle/>
          <a:p>
            <a:fld id="{6D18717E-F74C-4246-A795-6577BEDC8382}" type="slidenum">
              <a:rPr kumimoji="1" lang="zh-CN" altLang="en-US" smtClean="0"/>
              <a:t>2</a:t>
            </a:fld>
            <a:endParaRPr kumimoji="1" lang="zh-CN" altLang="en-US"/>
          </a:p>
        </p:txBody>
      </p:sp>
    </p:spTree>
    <p:extLst>
      <p:ext uri="{BB962C8B-B14F-4D97-AF65-F5344CB8AC3E}">
        <p14:creationId xmlns:p14="http://schemas.microsoft.com/office/powerpoint/2010/main" val="1450111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58D78-D1C4-2B11-905B-D74FED9A03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044D23-B679-E22F-1066-0F98322A44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E8E9A79-3DC4-88D9-A8D1-4550D4C057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原始数据记录了神经元在不同时间点是否放电。我们先把连续时间切成很多小 </a:t>
            </a:r>
            <a:r>
              <a:rPr lang="en" altLang="zh-CN" sz="1200" b="0" i="0" kern="1200" dirty="0">
                <a:solidFill>
                  <a:schemeClr val="tx1"/>
                </a:solidFill>
                <a:effectLst/>
                <a:latin typeface="+mn-lt"/>
                <a:ea typeface="+mn-ea"/>
                <a:cs typeface="+mn-cs"/>
              </a:rPr>
              <a:t>bin</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每个 </a:t>
            </a:r>
            <a:r>
              <a:rPr lang="en" altLang="zh-CN" sz="1200" b="0" i="0" kern="1200" dirty="0">
                <a:solidFill>
                  <a:schemeClr val="tx1"/>
                </a:solidFill>
                <a:effectLst/>
                <a:latin typeface="+mn-lt"/>
                <a:ea typeface="+mn-ea"/>
                <a:cs typeface="+mn-cs"/>
              </a:rPr>
              <a:t>bin </a:t>
            </a:r>
            <a:r>
              <a:rPr lang="zh-CN" altLang="en-US" sz="1200" b="0" i="0" kern="1200" dirty="0">
                <a:solidFill>
                  <a:schemeClr val="tx1"/>
                </a:solidFill>
                <a:effectLst/>
                <a:latin typeface="+mn-lt"/>
                <a:ea typeface="+mn-ea"/>
                <a:cs typeface="+mn-cs"/>
              </a:rPr>
              <a:t>里如果这个神经元放过电，就记 </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；没有放电，就记 </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。这样一个 </a:t>
            </a:r>
            <a:r>
              <a:rPr lang="en" altLang="zh-CN" sz="1200" b="0" i="0" kern="1200" dirty="0">
                <a:solidFill>
                  <a:schemeClr val="tx1"/>
                </a:solidFill>
                <a:effectLst/>
                <a:latin typeface="+mn-lt"/>
                <a:ea typeface="+mn-ea"/>
                <a:cs typeface="+mn-cs"/>
              </a:rPr>
              <a:t>trial </a:t>
            </a:r>
            <a:r>
              <a:rPr lang="zh-CN" altLang="en-US" sz="1200" b="0" i="0" kern="1200" dirty="0">
                <a:solidFill>
                  <a:schemeClr val="tx1"/>
                </a:solidFill>
                <a:effectLst/>
                <a:latin typeface="+mn-lt"/>
                <a:ea typeface="+mn-ea"/>
                <a:cs typeface="+mn-cs"/>
              </a:rPr>
              <a:t>就变成了一个“时间 </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神经元”的 </a:t>
            </a:r>
            <a:r>
              <a:rPr lang="en-US" altLang="zh-CN" sz="1200" b="0" i="0" kern="1200" dirty="0">
                <a:solidFill>
                  <a:schemeClr val="tx1"/>
                </a:solidFill>
                <a:effectLst/>
                <a:latin typeface="+mn-lt"/>
                <a:ea typeface="+mn-ea"/>
                <a:cs typeface="+mn-cs"/>
              </a:rPr>
              <a:t>0/1 </a:t>
            </a:r>
            <a:r>
              <a:rPr lang="zh-CN" altLang="en-US" sz="1200" b="0" i="0" kern="1200" dirty="0">
                <a:solidFill>
                  <a:schemeClr val="tx1"/>
                </a:solidFill>
                <a:effectLst/>
                <a:latin typeface="+mn-lt"/>
                <a:ea typeface="+mn-ea"/>
                <a:cs typeface="+mn-cs"/>
              </a:rPr>
              <a:t>矩阵。因为同一段视频重复播放很多遍，所以会有很多个这样的矩阵。把这些 </a:t>
            </a:r>
            <a:r>
              <a:rPr lang="en" altLang="zh-CN" sz="1200" b="0" i="0" kern="1200" dirty="0">
                <a:solidFill>
                  <a:schemeClr val="tx1"/>
                </a:solidFill>
                <a:effectLst/>
                <a:latin typeface="+mn-lt"/>
                <a:ea typeface="+mn-ea"/>
                <a:cs typeface="+mn-cs"/>
              </a:rPr>
              <a:t>trial </a:t>
            </a:r>
            <a:r>
              <a:rPr lang="zh-CN" altLang="en-US" sz="1200" b="0" i="0" kern="1200" dirty="0">
                <a:solidFill>
                  <a:schemeClr val="tx1"/>
                </a:solidFill>
                <a:effectLst/>
                <a:latin typeface="+mn-lt"/>
                <a:ea typeface="+mn-ea"/>
                <a:cs typeface="+mn-cs"/>
              </a:rPr>
              <a:t>沿着重复次数方向平均，就得到 </a:t>
            </a:r>
            <a:r>
              <a:rPr lang="en" altLang="zh-CN" sz="1200" b="0" i="0" kern="1200" dirty="0">
                <a:solidFill>
                  <a:schemeClr val="tx1"/>
                </a:solidFill>
                <a:effectLst/>
                <a:latin typeface="+mn-lt"/>
                <a:ea typeface="+mn-ea"/>
                <a:cs typeface="+mn-cs"/>
              </a:rPr>
              <a:t>PSTH</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它不再是 </a:t>
            </a:r>
            <a:r>
              <a:rPr lang="en-US" altLang="zh-CN" sz="1200" b="0" i="0" kern="1200" dirty="0">
                <a:solidFill>
                  <a:schemeClr val="tx1"/>
                </a:solidFill>
                <a:effectLst/>
                <a:latin typeface="+mn-lt"/>
                <a:ea typeface="+mn-ea"/>
                <a:cs typeface="+mn-cs"/>
              </a:rPr>
              <a:t>0/1</a:t>
            </a:r>
            <a:r>
              <a:rPr lang="zh-CN" altLang="en-US" sz="1200" b="0" i="0" kern="1200" dirty="0">
                <a:solidFill>
                  <a:schemeClr val="tx1"/>
                </a:solidFill>
                <a:effectLst/>
                <a:latin typeface="+mn-lt"/>
                <a:ea typeface="+mn-ea"/>
                <a:cs typeface="+mn-cs"/>
              </a:rPr>
              <a:t>，而是每个时间 </a:t>
            </a:r>
            <a:r>
              <a:rPr lang="en" altLang="zh-CN" sz="1200" b="0" i="0" kern="1200" dirty="0">
                <a:solidFill>
                  <a:schemeClr val="tx1"/>
                </a:solidFill>
                <a:effectLst/>
                <a:latin typeface="+mn-lt"/>
                <a:ea typeface="+mn-ea"/>
                <a:cs typeface="+mn-cs"/>
              </a:rPr>
              <a:t>bin</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每个神经元的平均放电概率或平均响应强度。</a:t>
            </a:r>
            <a:endParaRPr kumimoji="1" lang="zh-CN" altLang="en-US" i="0" dirty="0"/>
          </a:p>
        </p:txBody>
      </p:sp>
      <p:sp>
        <p:nvSpPr>
          <p:cNvPr id="4" name="灯片编号占位符 3">
            <a:extLst>
              <a:ext uri="{FF2B5EF4-FFF2-40B4-BE49-F238E27FC236}">
                <a16:creationId xmlns:a16="http://schemas.microsoft.com/office/drawing/2014/main" id="{697B2EA7-4F7D-B05D-2545-037388E022B4}"/>
              </a:ext>
            </a:extLst>
          </p:cNvPr>
          <p:cNvSpPr>
            <a:spLocks noGrp="1"/>
          </p:cNvSpPr>
          <p:nvPr>
            <p:ph type="sldNum" sz="quarter" idx="5"/>
          </p:nvPr>
        </p:nvSpPr>
        <p:spPr/>
        <p:txBody>
          <a:bodyPr/>
          <a:lstStyle/>
          <a:p>
            <a:fld id="{6D18717E-F74C-4246-A795-6577BEDC8382}" type="slidenum">
              <a:rPr kumimoji="1" lang="zh-CN" altLang="en-US" smtClean="0"/>
              <a:t>3</a:t>
            </a:fld>
            <a:endParaRPr kumimoji="1" lang="zh-CN" altLang="en-US"/>
          </a:p>
        </p:txBody>
      </p:sp>
    </p:spTree>
    <p:extLst>
      <p:ext uri="{BB962C8B-B14F-4D97-AF65-F5344CB8AC3E}">
        <p14:creationId xmlns:p14="http://schemas.microsoft.com/office/powerpoint/2010/main" val="3061566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9A598-4C83-6F7C-5D6A-45F9F347C3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7CDEF7-FEF0-53A3-D994-C587484C30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8D1123-604A-E234-AE9D-DC21A341900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希望大家在几种方法中选择实现</a:t>
            </a:r>
            <a:r>
              <a:rPr lang="zh-CN" altLang="en"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SID </a:t>
            </a:r>
            <a:r>
              <a:rPr lang="zh-CN" altLang="en-US" dirty="0"/>
              <a:t>代表最基础的端到端深度神经网络解码方法；</a:t>
            </a:r>
            <a:r>
              <a:rPr lang="en" altLang="zh-CN" dirty="0"/>
              <a:t>Robust Dynamic Visual Scene Decoder </a:t>
            </a:r>
            <a:r>
              <a:rPr lang="zh-CN" altLang="en-US" dirty="0"/>
              <a:t>关注动态视频场景下的重建稳定性；</a:t>
            </a:r>
            <a:r>
              <a:rPr lang="en" altLang="zh-CN" dirty="0"/>
              <a:t>WISA </a:t>
            </a:r>
            <a:r>
              <a:rPr lang="zh-CN" altLang="en-US" dirty="0"/>
              <a:t>通过小波变换建模 </a:t>
            </a:r>
            <a:r>
              <a:rPr lang="en" altLang="zh-CN" dirty="0"/>
              <a:t>spike </a:t>
            </a:r>
            <a:r>
              <a:rPr lang="zh-CN" altLang="en-US" dirty="0"/>
              <a:t>序列的多尺度时序结构；</a:t>
            </a:r>
            <a:r>
              <a:rPr lang="en" altLang="zh-CN" dirty="0"/>
              <a:t>S2INet </a:t>
            </a:r>
            <a:r>
              <a:rPr lang="zh-CN" altLang="en-US" dirty="0"/>
              <a:t>引入视觉系统中的感受野和方向选择性等脑启发先验；</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Flow-based invertible model </a:t>
            </a:r>
            <a:r>
              <a:rPr lang="zh-CN" altLang="en-US" dirty="0"/>
              <a:t>使用生成式可逆模型同时建模图像到 </a:t>
            </a:r>
            <a:r>
              <a:rPr lang="en" altLang="zh-CN" dirty="0"/>
              <a:t>spike </a:t>
            </a:r>
            <a:r>
              <a:rPr lang="zh-CN" altLang="en-US" dirty="0"/>
              <a:t>和 </a:t>
            </a:r>
            <a:r>
              <a:rPr lang="en" altLang="zh-CN" dirty="0"/>
              <a:t>spike </a:t>
            </a:r>
            <a:r>
              <a:rPr lang="zh-CN" altLang="en-US" dirty="0"/>
              <a:t>到图像的双向映射；</a:t>
            </a:r>
            <a:r>
              <a:rPr lang="en" altLang="zh-CN" dirty="0"/>
              <a:t>Nonlinear Decoding </a:t>
            </a:r>
            <a:r>
              <a:rPr lang="zh-CN" altLang="en-US" dirty="0"/>
              <a:t>则强调非线性模型在恢复自然图像细节中的重要性。</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8CB87C4D-537D-5588-8D2F-5DC9079E9DA4}"/>
              </a:ext>
            </a:extLst>
          </p:cNvPr>
          <p:cNvSpPr>
            <a:spLocks noGrp="1"/>
          </p:cNvSpPr>
          <p:nvPr>
            <p:ph type="sldNum" sz="quarter" idx="5"/>
          </p:nvPr>
        </p:nvSpPr>
        <p:spPr/>
        <p:txBody>
          <a:bodyPr/>
          <a:lstStyle/>
          <a:p>
            <a:fld id="{6D18717E-F74C-4246-A795-6577BEDC8382}" type="slidenum">
              <a:rPr kumimoji="1" lang="zh-CN" altLang="en-US" smtClean="0"/>
              <a:t>4</a:t>
            </a:fld>
            <a:endParaRPr kumimoji="1" lang="zh-CN" altLang="en-US"/>
          </a:p>
        </p:txBody>
      </p:sp>
    </p:spTree>
    <p:extLst>
      <p:ext uri="{BB962C8B-B14F-4D97-AF65-F5344CB8AC3E}">
        <p14:creationId xmlns:p14="http://schemas.microsoft.com/office/powerpoint/2010/main" val="918728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C78C6-A184-BD15-0881-DDA773E6E1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B35066-0CA4-F329-F8EA-598E0489A7FC}"/>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E18BADA8-6354-5008-60BE-96968B83C65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本作业的评测主要包括定量指标和可视化结果。定量指标使用 </a:t>
                </a:r>
                <a:r>
                  <a:rPr lang="en" altLang="zh-CN" dirty="0"/>
                  <a:t>PSNR </a:t>
                </a:r>
                <a:r>
                  <a:rPr lang="zh-CN" altLang="en-US" dirty="0"/>
                  <a:t>和 </a:t>
                </a:r>
                <a:r>
                  <a:rPr lang="en" altLang="zh-CN" dirty="0"/>
                  <a:t>SSIM</a:t>
                </a:r>
                <a:r>
                  <a:rPr lang="zh-CN" altLang="en" dirty="0"/>
                  <a:t>。</a:t>
                </a:r>
                <a:r>
                  <a:rPr lang="zh-CN" altLang="en-US" dirty="0"/>
                  <a:t>对于灰度自然视频帧，真实图像记作 </a:t>
                </a:r>
                <a14:m>
                  <m:oMath xmlns:m="http://schemas.openxmlformats.org/officeDocument/2006/math">
                    <m:r>
                      <a:rPr lang="zh-CN" altLang="en-US" sz="1200" i="1" kern="1200">
                        <a:solidFill>
                          <a:schemeClr val="tx1"/>
                        </a:solidFill>
                        <a:latin typeface="Cambria Math" panose="02040503050406030204" pitchFamily="18" charset="0"/>
                        <a:ea typeface="+mn-ea"/>
                        <a:cs typeface="+mn-cs"/>
                      </a:rPr>
                      <m:t>𝐼</m:t>
                    </m:r>
                  </m:oMath>
                </a14:m>
                <a:r>
                  <a:rPr lang="zh-CN" altLang="en-US" dirty="0"/>
                  <a:t>，重建图像记作 </a:t>
                </a:r>
                <a14:m>
                  <m:oMath xmlns:m="http://schemas.openxmlformats.org/officeDocument/2006/math">
                    <m:acc>
                      <m:accPr>
                        <m:chr m:val="̂"/>
                        <m:ctrlPr>
                          <a:rPr lang="ar-AE" altLang="zh-CN" sz="1200" i="1" kern="1200">
                            <a:solidFill>
                              <a:schemeClr val="tx1"/>
                            </a:solidFill>
                            <a:latin typeface="Cambria Math" panose="02040503050406030204" pitchFamily="18" charset="0"/>
                            <a:ea typeface="+mn-ea"/>
                            <a:cs typeface="+mn-cs"/>
                          </a:rPr>
                        </m:ctrlPr>
                      </m:accPr>
                      <m:e>
                        <m:r>
                          <a:rPr lang="ar-AE" altLang="zh-CN" sz="1200" i="1" kern="1200">
                            <a:solidFill>
                              <a:schemeClr val="tx1"/>
                            </a:solidFill>
                            <a:latin typeface="Cambria Math" panose="02040503050406030204" pitchFamily="18" charset="0"/>
                            <a:ea typeface="+mn-ea"/>
                            <a:cs typeface="+mn-cs"/>
                          </a:rPr>
                          <m:t>𝐼</m:t>
                        </m:r>
                      </m:e>
                    </m:acc>
                  </m:oMath>
                </a14:m>
                <a:r>
                  <a:rPr lang="zh-CN" altLang="ar-AE" dirty="0"/>
                  <a:t>，</a:t>
                </a:r>
                <a:r>
                  <a:rPr lang="zh-CN" altLang="en-US" dirty="0"/>
                  <a:t>首先计算像素级均方误差：</a:t>
                </a:r>
                <a14:m>
                  <m:oMath xmlns:m="http://schemas.openxmlformats.org/officeDocument/2006/math">
                    <m:r>
                      <m:rPr>
                        <m:sty m:val="p"/>
                      </m:rPr>
                      <a:rPr lang="en" altLang="zh-CN" sz="1200" kern="1200">
                        <a:solidFill>
                          <a:schemeClr val="tx1"/>
                        </a:solidFill>
                        <a:latin typeface="Cambria Math" panose="02040503050406030204" pitchFamily="18" charset="0"/>
                        <a:ea typeface="+mn-ea"/>
                        <a:cs typeface="+mn-cs"/>
                      </a:rPr>
                      <m:t>M</m:t>
                    </m:r>
                    <m:r>
                      <m:rPr>
                        <m:sty m:val="p"/>
                      </m:rPr>
                      <a:rPr lang="en" altLang="zh-CN" sz="1200" i="0" kern="1200">
                        <a:solidFill>
                          <a:schemeClr val="tx1"/>
                        </a:solidFill>
                        <a:latin typeface="Cambria Math" panose="02040503050406030204" pitchFamily="18" charset="0"/>
                        <a:ea typeface="+mn-ea"/>
                        <a:cs typeface="+mn-cs"/>
                      </a:rPr>
                      <m:t>SE</m:t>
                    </m:r>
                    <m:r>
                      <a:rPr lang="en" altLang="zh-CN" sz="1200" i="0" kern="1200">
                        <a:solidFill>
                          <a:schemeClr val="tx1"/>
                        </a:solidFill>
                        <a:latin typeface="Cambria Math" panose="02040503050406030204" pitchFamily="18" charset="0"/>
                        <a:ea typeface="+mn-ea"/>
                        <a:cs typeface="+mn-cs"/>
                      </a:rPr>
                      <m:t>=</m:t>
                    </m:r>
                    <m:f>
                      <m:fPr>
                        <m:ctrlPr>
                          <a:rPr lang="ar-AE" altLang="zh-CN" sz="1200" i="1" kern="1200">
                            <a:solidFill>
                              <a:schemeClr val="tx1"/>
                            </a:solidFill>
                            <a:latin typeface="Cambria Math" panose="02040503050406030204" pitchFamily="18" charset="0"/>
                            <a:ea typeface="+mn-ea"/>
                            <a:cs typeface="+mn-cs"/>
                          </a:rPr>
                        </m:ctrlPr>
                      </m:fPr>
                      <m:num>
                        <m:r>
                          <a:rPr lang="ar-AE" altLang="zh-CN" sz="1200" i="0" kern="1200">
                            <a:solidFill>
                              <a:schemeClr val="tx1"/>
                            </a:solidFill>
                            <a:latin typeface="Cambria Math" panose="02040503050406030204" pitchFamily="18" charset="0"/>
                            <a:ea typeface="+mn-ea"/>
                            <a:cs typeface="+mn-cs"/>
                          </a:rPr>
                          <m:t>1</m:t>
                        </m:r>
                      </m:num>
                      <m:den>
                        <m:r>
                          <a:rPr lang="ar-AE" altLang="zh-CN" sz="1200" i="1" kern="1200">
                            <a:solidFill>
                              <a:schemeClr val="tx1"/>
                            </a:solidFill>
                            <a:latin typeface="Cambria Math" panose="02040503050406030204" pitchFamily="18" charset="0"/>
                            <a:ea typeface="+mn-ea"/>
                            <a:cs typeface="+mn-cs"/>
                          </a:rPr>
                          <m:t>𝐻𝑊</m:t>
                        </m:r>
                      </m:den>
                    </m:f>
                    <m:nary>
                      <m:naryPr>
                        <m:chr m:val="∑"/>
                        <m:limLoc m:val="subSup"/>
                        <m:grow m:val="on"/>
                        <m:supHide m:val="on"/>
                        <m:ctrlPr>
                          <a:rPr lang="ar-AE" altLang="zh-CN" sz="1200" i="1" kern="1200">
                            <a:solidFill>
                              <a:schemeClr val="tx1"/>
                            </a:solidFill>
                            <a:latin typeface="Cambria Math" panose="02040503050406030204" pitchFamily="18" charset="0"/>
                            <a:ea typeface="+mn-ea"/>
                            <a:cs typeface="+mn-cs"/>
                          </a:rPr>
                        </m:ctrlPr>
                      </m:naryPr>
                      <m:sub>
                        <m:r>
                          <a:rPr lang="ar-AE" altLang="zh-CN" sz="1200" i="1" kern="1200">
                            <a:solidFill>
                              <a:schemeClr val="tx1"/>
                            </a:solidFill>
                            <a:latin typeface="Cambria Math" panose="02040503050406030204" pitchFamily="18" charset="0"/>
                            <a:ea typeface="+mn-ea"/>
                            <a:cs typeface="+mn-cs"/>
                          </a:rPr>
                          <m:t>𝑖</m:t>
                        </m:r>
                        <m:r>
                          <a:rPr lang="ar-AE" altLang="zh-CN" sz="1200" i="0" kern="1200">
                            <a:solidFill>
                              <a:schemeClr val="tx1"/>
                            </a:solidFill>
                            <a:latin typeface="Cambria Math" panose="02040503050406030204" pitchFamily="18" charset="0"/>
                            <a:ea typeface="+mn-ea"/>
                            <a:cs typeface="+mn-cs"/>
                          </a:rPr>
                          <m:t>,</m:t>
                        </m:r>
                        <m:r>
                          <a:rPr lang="ar-AE" altLang="zh-CN" sz="1200" i="1" kern="1200">
                            <a:solidFill>
                              <a:schemeClr val="tx1"/>
                            </a:solidFill>
                            <a:latin typeface="Cambria Math" panose="02040503050406030204" pitchFamily="18" charset="0"/>
                            <a:ea typeface="+mn-ea"/>
                            <a:cs typeface="+mn-cs"/>
                          </a:rPr>
                          <m:t>𝑗</m:t>
                        </m:r>
                      </m:sub>
                      <m:sup/>
                      <m:e>
                        <m:r>
                          <a:rPr lang="ar-AE" altLang="zh-CN" sz="1200" i="0" kern="1200">
                            <a:solidFill>
                              <a:schemeClr val="tx1"/>
                            </a:solidFill>
                            <a:latin typeface="Cambria Math" panose="02040503050406030204" pitchFamily="18" charset="0"/>
                            <a:ea typeface="+mn-ea"/>
                            <a:cs typeface="+mn-cs"/>
                          </a:rPr>
                          <m:t>(</m:t>
                        </m:r>
                      </m:e>
                    </m:nary>
                    <m:d>
                      <m:dPr>
                        <m:begChr m:val=""/>
                        <m:endChr m:val=""/>
                        <m:ctrlPr>
                          <a:rPr lang="ar-AE" altLang="zh-CN" sz="1200" i="1" kern="1200">
                            <a:solidFill>
                              <a:schemeClr val="tx1"/>
                            </a:solidFill>
                            <a:latin typeface="Cambria Math" panose="02040503050406030204" pitchFamily="18" charset="0"/>
                            <a:ea typeface="+mn-ea"/>
                            <a:cs typeface="+mn-cs"/>
                          </a:rPr>
                        </m:ctrlPr>
                      </m:dPr>
                      <m:e>
                        <m:sSub>
                          <m:sSubPr>
                            <m:ctrlPr>
                              <a:rPr lang="ar-AE" altLang="zh-CN" sz="1200" i="1" kern="1200">
                                <a:solidFill>
                                  <a:schemeClr val="tx1"/>
                                </a:solidFill>
                                <a:latin typeface="Cambria Math" panose="02040503050406030204" pitchFamily="18" charset="0"/>
                                <a:ea typeface="+mn-ea"/>
                                <a:cs typeface="+mn-cs"/>
                              </a:rPr>
                            </m:ctrlPr>
                          </m:sSubPr>
                          <m:e>
                            <m:r>
                              <a:rPr lang="ar-AE" altLang="zh-CN" sz="1200" i="1" kern="1200">
                                <a:solidFill>
                                  <a:schemeClr val="tx1"/>
                                </a:solidFill>
                                <a:latin typeface="Cambria Math" panose="02040503050406030204" pitchFamily="18" charset="0"/>
                                <a:ea typeface="+mn-ea"/>
                                <a:cs typeface="+mn-cs"/>
                              </a:rPr>
                              <m:t>𝐼</m:t>
                            </m:r>
                          </m:e>
                          <m:sub>
                            <m:r>
                              <a:rPr lang="ar-AE" altLang="zh-CN" sz="1200" i="1" kern="1200">
                                <a:solidFill>
                                  <a:schemeClr val="tx1"/>
                                </a:solidFill>
                                <a:latin typeface="Cambria Math" panose="02040503050406030204" pitchFamily="18" charset="0"/>
                                <a:ea typeface="+mn-ea"/>
                                <a:cs typeface="+mn-cs"/>
                              </a:rPr>
                              <m:t>𝑖𝑗</m:t>
                            </m:r>
                          </m:sub>
                        </m:sSub>
                        <m:r>
                          <a:rPr lang="ar-AE" altLang="zh-CN" sz="1200" i="0" kern="1200">
                            <a:solidFill>
                              <a:schemeClr val="tx1"/>
                            </a:solidFill>
                            <a:latin typeface="Cambria Math" panose="02040503050406030204" pitchFamily="18" charset="0"/>
                            <a:ea typeface="+mn-ea"/>
                            <a:cs typeface="+mn-cs"/>
                          </a:rPr>
                          <m:t>−</m:t>
                        </m:r>
                        <m:sSub>
                          <m:sSubPr>
                            <m:ctrlPr>
                              <a:rPr lang="ar-AE" altLang="zh-CN" sz="1200" i="1" kern="1200">
                                <a:solidFill>
                                  <a:schemeClr val="tx1"/>
                                </a:solidFill>
                                <a:latin typeface="Cambria Math" panose="02040503050406030204" pitchFamily="18" charset="0"/>
                                <a:ea typeface="+mn-ea"/>
                                <a:cs typeface="+mn-cs"/>
                              </a:rPr>
                            </m:ctrlPr>
                          </m:sSubPr>
                          <m:e>
                            <m:acc>
                              <m:accPr>
                                <m:chr m:val="̂"/>
                                <m:ctrlPr>
                                  <a:rPr lang="ar-AE" altLang="zh-CN" sz="1200" i="1" kern="1200">
                                    <a:solidFill>
                                      <a:schemeClr val="tx1"/>
                                    </a:solidFill>
                                    <a:latin typeface="Cambria Math" panose="02040503050406030204" pitchFamily="18" charset="0"/>
                                    <a:ea typeface="+mn-ea"/>
                                    <a:cs typeface="+mn-cs"/>
                                  </a:rPr>
                                </m:ctrlPr>
                              </m:accPr>
                              <m:e>
                                <m:r>
                                  <a:rPr lang="ar-AE" altLang="zh-CN" sz="1200" i="1" kern="1200">
                                    <a:solidFill>
                                      <a:schemeClr val="tx1"/>
                                    </a:solidFill>
                                    <a:latin typeface="Cambria Math" panose="02040503050406030204" pitchFamily="18" charset="0"/>
                                    <a:ea typeface="+mn-ea"/>
                                    <a:cs typeface="+mn-cs"/>
                                  </a:rPr>
                                  <m:t>𝐼</m:t>
                                </m:r>
                              </m:e>
                            </m:acc>
                          </m:e>
                          <m:sub>
                            <m:r>
                              <a:rPr lang="ar-AE" altLang="zh-CN" sz="1200" i="1" kern="1200">
                                <a:solidFill>
                                  <a:schemeClr val="tx1"/>
                                </a:solidFill>
                                <a:latin typeface="Cambria Math" panose="02040503050406030204" pitchFamily="18" charset="0"/>
                                <a:ea typeface="+mn-ea"/>
                                <a:cs typeface="+mn-cs"/>
                              </a:rPr>
                              <m:t>𝑖𝑗</m:t>
                            </m:r>
                          </m:sub>
                        </m:sSub>
                        <m:sSup>
                          <m:sSupPr>
                            <m:ctrlPr>
                              <a:rPr lang="ar-AE" altLang="zh-CN" sz="1200" i="1" kern="1200">
                                <a:solidFill>
                                  <a:schemeClr val="tx1"/>
                                </a:solidFill>
                                <a:latin typeface="Cambria Math" panose="02040503050406030204" pitchFamily="18" charset="0"/>
                                <a:ea typeface="+mn-ea"/>
                                <a:cs typeface="+mn-cs"/>
                              </a:rPr>
                            </m:ctrlPr>
                          </m:sSupPr>
                          <m:e>
                            <m:d>
                              <m:dPr>
                                <m:begChr m:val=""/>
                                <m:endChr m:val=""/>
                                <m:ctrlPr>
                                  <a:rPr lang="ar-AE" altLang="zh-CN" sz="1200" i="1" kern="1200">
                                    <a:solidFill>
                                      <a:schemeClr val="tx1"/>
                                    </a:solidFill>
                                    <a:latin typeface="Cambria Math" panose="02040503050406030204" pitchFamily="18" charset="0"/>
                                    <a:ea typeface="+mn-ea"/>
                                    <a:cs typeface="+mn-cs"/>
                                  </a:rPr>
                                </m:ctrlPr>
                              </m:dPr>
                              <m:e>
                                <m:r>
                                  <a:rPr lang="ar-AE" altLang="zh-CN" sz="1200" i="0" kern="1200">
                                    <a:solidFill>
                                      <a:schemeClr val="tx1"/>
                                    </a:solidFill>
                                    <a:latin typeface="Cambria Math" panose="02040503050406030204" pitchFamily="18" charset="0"/>
                                    <a:ea typeface="+mn-ea"/>
                                    <a:cs typeface="+mn-cs"/>
                                  </a:rPr>
                                  <m:t>)</m:t>
                                </m:r>
                              </m:e>
                            </m:d>
                          </m:e>
                          <m:sup>
                            <m:r>
                              <a:rPr lang="ar-AE" altLang="zh-CN" sz="1200" i="0" kern="1200">
                                <a:solidFill>
                                  <a:schemeClr val="tx1"/>
                                </a:solidFill>
                                <a:latin typeface="Cambria Math" panose="02040503050406030204" pitchFamily="18" charset="0"/>
                                <a:ea typeface="+mn-ea"/>
                                <a:cs typeface="+mn-cs"/>
                              </a:rPr>
                              <m:t>2</m:t>
                            </m:r>
                          </m:sup>
                        </m:sSup>
                      </m:e>
                    </m:d>
                  </m:oMath>
                </a14:m>
                <a:r>
                  <a:rPr lang="zh-CN" altLang="ar-AE" dirty="0"/>
                  <a:t>。</a:t>
                </a:r>
                <a:r>
                  <a:rPr lang="en" altLang="zh-CN" dirty="0"/>
                  <a:t>PSNR </a:t>
                </a:r>
                <a:r>
                  <a:rPr lang="zh-CN" altLang="en-US" dirty="0"/>
                  <a:t>定义为 </a:t>
                </a:r>
                <a14:m>
                  <m:oMath xmlns:m="http://schemas.openxmlformats.org/officeDocument/2006/math">
                    <m:r>
                      <m:rPr>
                        <m:sty m:val="p"/>
                      </m:rPr>
                      <a:rPr lang="en" altLang="zh-CN" sz="1200" kern="1200">
                        <a:solidFill>
                          <a:schemeClr val="tx1"/>
                        </a:solidFill>
                        <a:latin typeface="Cambria Math" panose="02040503050406030204" pitchFamily="18" charset="0"/>
                        <a:ea typeface="+mn-ea"/>
                        <a:cs typeface="+mn-cs"/>
                      </a:rPr>
                      <m:t>P</m:t>
                    </m:r>
                    <m:r>
                      <m:rPr>
                        <m:sty m:val="p"/>
                      </m:rPr>
                      <a:rPr lang="en" altLang="zh-CN" sz="1200" i="0" kern="1200">
                        <a:solidFill>
                          <a:schemeClr val="tx1"/>
                        </a:solidFill>
                        <a:latin typeface="Cambria Math" panose="02040503050406030204" pitchFamily="18" charset="0"/>
                        <a:ea typeface="+mn-ea"/>
                        <a:cs typeface="+mn-cs"/>
                      </a:rPr>
                      <m:t>SNR</m:t>
                    </m:r>
                    <m:r>
                      <a:rPr lang="en" altLang="zh-CN" sz="1200" i="0" kern="1200">
                        <a:solidFill>
                          <a:schemeClr val="tx1"/>
                        </a:solidFill>
                        <a:latin typeface="Cambria Math" panose="02040503050406030204" pitchFamily="18" charset="0"/>
                        <a:ea typeface="+mn-ea"/>
                        <a:cs typeface="+mn-cs"/>
                      </a:rPr>
                      <m:t>=</m:t>
                    </m:r>
                    <m:r>
                      <a:rPr lang="en" altLang="zh-CN" sz="1200" i="0" kern="1200">
                        <a:solidFill>
                          <a:schemeClr val="tx1"/>
                        </a:solidFill>
                        <a:latin typeface="Cambria Math" panose="02040503050406030204" pitchFamily="18" charset="0"/>
                        <a:ea typeface="+mn-ea"/>
                        <a:cs typeface="+mn-cs"/>
                      </a:rPr>
                      <m:t>10</m:t>
                    </m:r>
                    <m:sSub>
                      <m:sSubPr>
                        <m:ctrlPr>
                          <a:rPr lang="ar-AE" altLang="zh-CN" sz="1200" i="1" kern="1200">
                            <a:solidFill>
                              <a:schemeClr val="tx1"/>
                            </a:solidFill>
                            <a:latin typeface="Cambria Math" panose="02040503050406030204" pitchFamily="18" charset="0"/>
                            <a:ea typeface="+mn-ea"/>
                            <a:cs typeface="+mn-cs"/>
                          </a:rPr>
                        </m:ctrlPr>
                      </m:sSubPr>
                      <m:e>
                        <m:func>
                          <m:funcPr>
                            <m:ctrlPr>
                              <a:rPr lang="ar-AE" altLang="zh-CN" sz="1200" i="1" kern="1200">
                                <a:solidFill>
                                  <a:schemeClr val="tx1"/>
                                </a:solidFill>
                                <a:latin typeface="Cambria Math" panose="02040503050406030204" pitchFamily="18" charset="0"/>
                                <a:ea typeface="+mn-ea"/>
                                <a:cs typeface="+mn-cs"/>
                              </a:rPr>
                            </m:ctrlPr>
                          </m:funcPr>
                          <m:fName>
                            <m:r>
                              <m:rPr>
                                <m:sty m:val="p"/>
                              </m:rPr>
                              <a:rPr lang="en" altLang="zh-CN" sz="1200" i="0" kern="1200">
                                <a:solidFill>
                                  <a:schemeClr val="tx1"/>
                                </a:solidFill>
                                <a:latin typeface="Cambria Math" panose="02040503050406030204" pitchFamily="18" charset="0"/>
                                <a:ea typeface="+mn-ea"/>
                                <a:cs typeface="+mn-cs"/>
                              </a:rPr>
                              <m:t>log</m:t>
                            </m:r>
                          </m:fName>
                          <m:e>
                            <m:d>
                              <m:dPr>
                                <m:ctrlPr>
                                  <a:rPr lang="ar-AE" altLang="zh-CN" sz="1200" i="1" kern="1200" smtClean="0">
                                    <a:solidFill>
                                      <a:schemeClr val="tx1"/>
                                    </a:solidFill>
                                    <a:latin typeface="Cambria Math" panose="02040503050406030204" pitchFamily="18" charset="0"/>
                                    <a:ea typeface="+mn-ea"/>
                                    <a:cs typeface="+mn-cs"/>
                                  </a:rPr>
                                </m:ctrlPr>
                              </m:dPr>
                              <m:e>
                                <m:sSubSup>
                                  <m:sSubSupPr>
                                    <m:ctrlPr>
                                      <a:rPr lang="ar-AE" altLang="zh-CN" sz="1200" i="1" kern="1200">
                                        <a:solidFill>
                                          <a:schemeClr val="tx1"/>
                                        </a:solidFill>
                                        <a:latin typeface="Cambria Math" panose="02040503050406030204" pitchFamily="18" charset="0"/>
                                        <a:ea typeface="+mn-ea"/>
                                        <a:cs typeface="+mn-cs"/>
                                      </a:rPr>
                                    </m:ctrlPr>
                                  </m:sSubSupPr>
                                  <m:e>
                                    <m:r>
                                      <m:rPr>
                                        <m:sty m:val="p"/>
                                      </m:rPr>
                                      <a:rPr lang="en" altLang="zh-CN" sz="1200" i="0" kern="1200">
                                        <a:solidFill>
                                          <a:schemeClr val="tx1"/>
                                        </a:solidFill>
                                        <a:latin typeface="Cambria Math" panose="02040503050406030204" pitchFamily="18" charset="0"/>
                                        <a:ea typeface="+mn-ea"/>
                                        <a:cs typeface="+mn-cs"/>
                                      </a:rPr>
                                      <m:t>MAX</m:t>
                                    </m:r>
                                  </m:e>
                                  <m:sub>
                                    <m:r>
                                      <a:rPr lang="ar-AE" altLang="zh-CN" sz="1200" i="1" kern="1200">
                                        <a:solidFill>
                                          <a:schemeClr val="tx1"/>
                                        </a:solidFill>
                                        <a:latin typeface="Cambria Math" panose="02040503050406030204" pitchFamily="18" charset="0"/>
                                        <a:ea typeface="+mn-ea"/>
                                        <a:cs typeface="+mn-cs"/>
                                      </a:rPr>
                                      <m:t>𝐼</m:t>
                                    </m:r>
                                  </m:sub>
                                  <m:sup>
                                    <m:r>
                                      <a:rPr lang="ar-AE" altLang="zh-CN" sz="1200" i="0" kern="1200">
                                        <a:solidFill>
                                          <a:schemeClr val="tx1"/>
                                        </a:solidFill>
                                        <a:latin typeface="Cambria Math" panose="02040503050406030204" pitchFamily="18" charset="0"/>
                                        <a:ea typeface="+mn-ea"/>
                                        <a:cs typeface="+mn-cs"/>
                                      </a:rPr>
                                      <m:t>2</m:t>
                                    </m:r>
                                  </m:sup>
                                </m:sSubSup>
                                <m:r>
                                  <a:rPr lang="ar-AE" altLang="zh-CN" sz="1200" i="0" kern="1200">
                                    <a:solidFill>
                                      <a:schemeClr val="tx1"/>
                                    </a:solidFill>
                                    <a:latin typeface="Cambria Math" panose="02040503050406030204" pitchFamily="18" charset="0"/>
                                    <a:ea typeface="+mn-ea"/>
                                    <a:cs typeface="+mn-cs"/>
                                  </a:rPr>
                                  <m:t>/</m:t>
                                </m:r>
                                <m:r>
                                  <m:rPr>
                                    <m:sty m:val="p"/>
                                  </m:rPr>
                                  <a:rPr lang="en" altLang="zh-CN" sz="1200" i="0" kern="1200">
                                    <a:solidFill>
                                      <a:schemeClr val="tx1"/>
                                    </a:solidFill>
                                    <a:latin typeface="Cambria Math" panose="02040503050406030204" pitchFamily="18" charset="0"/>
                                    <a:ea typeface="+mn-ea"/>
                                    <a:cs typeface="+mn-cs"/>
                                  </a:rPr>
                                  <m:t>MSE</m:t>
                                </m:r>
                              </m:e>
                            </m:d>
                          </m:e>
                        </m:func>
                      </m:e>
                      <m:sub>
                        <m:r>
                          <a:rPr lang="ar-AE" altLang="zh-CN" sz="1200" i="0" kern="1200">
                            <a:solidFill>
                              <a:schemeClr val="tx1"/>
                            </a:solidFill>
                            <a:latin typeface="Cambria Math" panose="02040503050406030204" pitchFamily="18" charset="0"/>
                            <a:ea typeface="+mn-ea"/>
                            <a:cs typeface="+mn-cs"/>
                          </a:rPr>
                          <m:t>10</m:t>
                        </m:r>
                      </m:sub>
                    </m:sSub>
                  </m:oMath>
                </a14:m>
                <a:r>
                  <a:rPr lang="zh-CN" altLang="ar-AE" dirty="0"/>
                  <a:t>，</a:t>
                </a:r>
                <a:r>
                  <a:rPr lang="zh-CN" altLang="en-US" dirty="0"/>
                  <a:t>如果图像归一化到 </a:t>
                </a:r>
                <a14:m>
                  <m:oMath xmlns:m="http://schemas.openxmlformats.org/officeDocument/2006/math">
                    <m:d>
                      <m:dPr>
                        <m:begChr m:val="["/>
                        <m:endChr m:val="]"/>
                        <m:sepChr m:val=","/>
                        <m:ctrlPr>
                          <a:rPr lang="ar-AE" altLang="zh-CN" sz="1200" i="1" kern="1200">
                            <a:solidFill>
                              <a:schemeClr val="tx1"/>
                            </a:solidFill>
                            <a:latin typeface="Cambria Math" panose="02040503050406030204" pitchFamily="18" charset="0"/>
                            <a:ea typeface="+mn-ea"/>
                            <a:cs typeface="+mn-cs"/>
                          </a:rPr>
                        </m:ctrlPr>
                      </m:dPr>
                      <m:e>
                        <m:r>
                          <a:rPr lang="ar-AE" altLang="zh-CN" sz="1200" i="0" kern="1200">
                            <a:solidFill>
                              <a:schemeClr val="tx1"/>
                            </a:solidFill>
                            <a:latin typeface="Cambria Math" panose="02040503050406030204" pitchFamily="18" charset="0"/>
                            <a:ea typeface="+mn-ea"/>
                            <a:cs typeface="+mn-cs"/>
                          </a:rPr>
                          <m:t>0</m:t>
                        </m:r>
                      </m:e>
                      <m:e>
                        <m:r>
                          <a:rPr lang="ar-AE" altLang="zh-CN" sz="1200" i="0" kern="1200">
                            <a:solidFill>
                              <a:schemeClr val="tx1"/>
                            </a:solidFill>
                            <a:latin typeface="Cambria Math" panose="02040503050406030204" pitchFamily="18" charset="0"/>
                            <a:ea typeface="+mn-ea"/>
                            <a:cs typeface="+mn-cs"/>
                          </a:rPr>
                          <m:t>1</m:t>
                        </m:r>
                      </m:e>
                    </m:d>
                  </m:oMath>
                </a14:m>
                <a:r>
                  <a:rPr lang="zh-CN" altLang="ar-AE" dirty="0"/>
                  <a:t>，</a:t>
                </a:r>
                <a:r>
                  <a:rPr lang="zh-CN" altLang="en-US" dirty="0"/>
                  <a:t>则 </a:t>
                </a:r>
                <a14:m>
                  <m:oMath xmlns:m="http://schemas.openxmlformats.org/officeDocument/2006/math">
                    <m:sSub>
                      <m:sSubPr>
                        <m:ctrlPr>
                          <a:rPr lang="ar-AE" altLang="zh-CN" sz="1200" i="1" kern="1200">
                            <a:solidFill>
                              <a:schemeClr val="tx1"/>
                            </a:solidFill>
                            <a:latin typeface="Cambria Math" panose="02040503050406030204" pitchFamily="18" charset="0"/>
                            <a:ea typeface="+mn-ea"/>
                            <a:cs typeface="+mn-cs"/>
                          </a:rPr>
                        </m:ctrlPr>
                      </m:sSubPr>
                      <m:e>
                        <m:r>
                          <m:rPr>
                            <m:sty m:val="p"/>
                          </m:rPr>
                          <a:rPr lang="en" altLang="zh-CN" sz="1200" kern="1200">
                            <a:solidFill>
                              <a:schemeClr val="tx1"/>
                            </a:solidFill>
                            <a:latin typeface="Cambria Math" panose="02040503050406030204" pitchFamily="18" charset="0"/>
                            <a:ea typeface="+mn-ea"/>
                            <a:cs typeface="+mn-cs"/>
                          </a:rPr>
                          <m:t>M</m:t>
                        </m:r>
                        <m:r>
                          <m:rPr>
                            <m:sty m:val="p"/>
                          </m:rPr>
                          <a:rPr lang="en" altLang="zh-CN" sz="1200" i="0" kern="1200">
                            <a:solidFill>
                              <a:schemeClr val="tx1"/>
                            </a:solidFill>
                            <a:latin typeface="Cambria Math" panose="02040503050406030204" pitchFamily="18" charset="0"/>
                            <a:ea typeface="+mn-ea"/>
                            <a:cs typeface="+mn-cs"/>
                          </a:rPr>
                          <m:t>AX</m:t>
                        </m:r>
                      </m:e>
                      <m:sub>
                        <m:r>
                          <a:rPr lang="ar-AE" altLang="zh-CN" sz="1200" i="1" kern="1200">
                            <a:solidFill>
                              <a:schemeClr val="tx1"/>
                            </a:solidFill>
                            <a:latin typeface="Cambria Math" panose="02040503050406030204" pitchFamily="18" charset="0"/>
                            <a:ea typeface="+mn-ea"/>
                            <a:cs typeface="+mn-cs"/>
                          </a:rPr>
                          <m:t>𝐼</m:t>
                        </m:r>
                      </m:sub>
                    </m:sSub>
                    <m:r>
                      <a:rPr lang="ar-AE" altLang="zh-CN" sz="1200" i="0" kern="1200">
                        <a:solidFill>
                          <a:schemeClr val="tx1"/>
                        </a:solidFill>
                        <a:latin typeface="Cambria Math" panose="02040503050406030204" pitchFamily="18" charset="0"/>
                        <a:ea typeface="+mn-ea"/>
                        <a:cs typeface="+mn-cs"/>
                      </a:rPr>
                      <m:t>=</m:t>
                    </m:r>
                    <m:r>
                      <a:rPr lang="ar-AE" altLang="zh-CN" sz="1200" i="0" kern="1200">
                        <a:solidFill>
                          <a:schemeClr val="tx1"/>
                        </a:solidFill>
                        <a:latin typeface="Cambria Math" panose="02040503050406030204" pitchFamily="18" charset="0"/>
                        <a:ea typeface="+mn-ea"/>
                        <a:cs typeface="+mn-cs"/>
                      </a:rPr>
                      <m:t>1</m:t>
                    </m:r>
                  </m:oMath>
                </a14:m>
                <a:r>
                  <a:rPr lang="zh-CN" altLang="ar-AE" dirty="0"/>
                  <a:t>。</a:t>
                </a:r>
                <a:r>
                  <a:rPr lang="en" altLang="zh-CN" dirty="0"/>
                  <a:t>PSNR </a:t>
                </a:r>
                <a:r>
                  <a:rPr lang="zh-CN" altLang="en-US" dirty="0"/>
                  <a:t>可以理解为把 </a:t>
                </a:r>
                <a:r>
                  <a:rPr lang="en" altLang="zh-CN" dirty="0"/>
                  <a:t>MSE </a:t>
                </a:r>
                <a:r>
                  <a:rPr lang="zh-CN" altLang="en-US" dirty="0"/>
                  <a:t>反过来再取对数，数值越高说明重建图像和真实图像的像素亮度越接近。</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SSIM </a:t>
                </a:r>
                <a:r>
                  <a:rPr lang="zh-CN" altLang="en-US" dirty="0"/>
                  <a:t>把图像质量拆成三个问题：第一，整体亮度像不像；第二，对比度，也就是明暗变化强弱像不像；第三，结构像不像，比如边缘、轮廓和纹理有没有对上。它会在图像的多个局部窗口上计算这些相似性，最后取平均。因此，</a:t>
                </a:r>
                <a:r>
                  <a:rPr lang="en" altLang="zh-CN" dirty="0"/>
                  <a:t>SSIM </a:t>
                </a:r>
                <a:r>
                  <a:rPr lang="zh-CN" altLang="en-US" dirty="0"/>
                  <a:t>比 </a:t>
                </a:r>
                <a:r>
                  <a:rPr lang="en" altLang="zh-CN" dirty="0"/>
                  <a:t>PSNR </a:t>
                </a:r>
                <a:r>
                  <a:rPr lang="zh-CN" altLang="en-US" dirty="0"/>
                  <a:t>更关注图像结构和视觉感受。</a:t>
                </a:r>
                <a:r>
                  <a:rPr lang="en" altLang="zh-CN" dirty="0"/>
                  <a:t>PSNR </a:t>
                </a:r>
                <a:r>
                  <a:rPr lang="zh-CN" altLang="en-US" dirty="0"/>
                  <a:t>主要看像素误差，而 </a:t>
                </a:r>
                <a:r>
                  <a:rPr lang="en" altLang="zh-CN" dirty="0"/>
                  <a:t>SSIM </a:t>
                </a:r>
                <a:r>
                  <a:rPr lang="zh-CN" altLang="en-US" dirty="0"/>
                  <a:t>更关心重建图像看起来是不是像原图。</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简单来说，</a:t>
                </a:r>
                <a:r>
                  <a:rPr lang="en" altLang="zh-CN" dirty="0"/>
                  <a:t>PSNR </a:t>
                </a:r>
                <a:r>
                  <a:rPr lang="zh-CN" altLang="en-US" dirty="0"/>
                  <a:t>回答“像素亮度准不准”，</a:t>
                </a:r>
                <a:r>
                  <a:rPr lang="en" altLang="zh-CN" dirty="0"/>
                  <a:t>SSIM </a:t>
                </a:r>
                <a:r>
                  <a:rPr lang="zh-CN" altLang="en-US" dirty="0"/>
                  <a:t>回答“图像结构像不像”；一个好的重建模型应该同时有较高的 </a:t>
                </a:r>
                <a:r>
                  <a:rPr lang="en" altLang="zh-CN" dirty="0"/>
                  <a:t>PSNR</a:t>
                </a:r>
                <a:r>
                  <a:rPr lang="zh-CN" altLang="en" dirty="0"/>
                  <a:t>、</a:t>
                </a:r>
                <a:r>
                  <a:rPr lang="zh-CN" altLang="en-US" dirty="0"/>
                  <a:t>较高的 </a:t>
                </a:r>
                <a:r>
                  <a:rPr lang="en" altLang="zh-CN" dirty="0"/>
                  <a:t>SSIM</a:t>
                </a:r>
                <a:r>
                  <a:rPr lang="zh-CN" altLang="en" dirty="0"/>
                  <a:t>，</a:t>
                </a:r>
                <a:r>
                  <a:rPr lang="zh-CN" altLang="en-US" dirty="0"/>
                  <a:t>并且可视化结果中能看出清楚的自然视频结构。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还要特别提醒一点：视频帧之间有强时间连续性，所以 </a:t>
                </a:r>
                <a:r>
                  <a:rPr lang="en" altLang="zh-CN" sz="1200" b="0" i="0" kern="1200" dirty="0">
                    <a:solidFill>
                      <a:schemeClr val="tx1"/>
                    </a:solidFill>
                    <a:effectLst/>
                    <a:latin typeface="+mn-lt"/>
                    <a:ea typeface="+mn-ea"/>
                    <a:cs typeface="+mn-cs"/>
                  </a:rPr>
                  <a:t>train</a:t>
                </a:r>
                <a:r>
                  <a:rPr lang="zh-CN" altLang="en" sz="1200" b="0" i="0" kern="1200" dirty="0">
                    <a:solidFill>
                      <a:schemeClr val="tx1"/>
                    </a:solidFill>
                    <a:effectLst/>
                    <a:latin typeface="+mn-lt"/>
                    <a:ea typeface="+mn-ea"/>
                    <a:cs typeface="+mn-cs"/>
                  </a:rPr>
                  <a:t>、</a:t>
                </a:r>
                <a:r>
                  <a:rPr lang="en" altLang="zh-CN" sz="1200" b="0" i="0" kern="1200" dirty="0">
                    <a:solidFill>
                      <a:schemeClr val="tx1"/>
                    </a:solidFill>
                    <a:effectLst/>
                    <a:latin typeface="+mn-lt"/>
                    <a:ea typeface="+mn-ea"/>
                    <a:cs typeface="+mn-cs"/>
                  </a:rPr>
                  <a:t>validation</a:t>
                </a:r>
                <a:r>
                  <a:rPr lang="zh-CN" altLang="en" sz="1200" b="0" i="0" kern="1200" dirty="0">
                    <a:solidFill>
                      <a:schemeClr val="tx1"/>
                    </a:solidFill>
                    <a:effectLst/>
                    <a:latin typeface="+mn-lt"/>
                    <a:ea typeface="+mn-ea"/>
                    <a:cs typeface="+mn-cs"/>
                  </a:rPr>
                  <a:t>、</a:t>
                </a:r>
                <a:r>
                  <a:rPr lang="en" altLang="zh-CN" sz="1200" b="0" i="0" kern="1200" dirty="0">
                    <a:solidFill>
                      <a:schemeClr val="tx1"/>
                    </a:solidFill>
                    <a:effectLst/>
                    <a:latin typeface="+mn-lt"/>
                    <a:ea typeface="+mn-ea"/>
                    <a:cs typeface="+mn-cs"/>
                  </a:rPr>
                  <a:t>test </a:t>
                </a:r>
                <a:r>
                  <a:rPr lang="zh-CN" altLang="en-US" sz="1200" b="0" i="0" kern="1200" dirty="0">
                    <a:solidFill>
                      <a:schemeClr val="tx1"/>
                    </a:solidFill>
                    <a:effectLst/>
                    <a:latin typeface="+mn-lt"/>
                    <a:ea typeface="+mn-ea"/>
                    <a:cs typeface="+mn-cs"/>
                  </a:rPr>
                  <a:t>最好用 </a:t>
                </a:r>
                <a:r>
                  <a:rPr lang="en" altLang="zh-CN" sz="1200" b="0" i="0" kern="1200" dirty="0">
                    <a:solidFill>
                      <a:schemeClr val="tx1"/>
                    </a:solidFill>
                    <a:effectLst/>
                    <a:latin typeface="+mn-lt"/>
                    <a:ea typeface="+mn-ea"/>
                    <a:cs typeface="+mn-cs"/>
                  </a:rPr>
                  <a:t>temporal block split</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不要随便随机打乱相邻帧。随机打乱可能导致训练集和测试集里有非常相似的相邻帧，让结果虚高。</a:t>
                </a:r>
                <a:endParaRPr kumimoji="1"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mc:Choice>
        <mc:Fallback xmlns="">
          <p:sp>
            <p:nvSpPr>
              <p:cNvPr id="3" name="备注占位符 2">
                <a:extLst>
                  <a:ext uri="{FF2B5EF4-FFF2-40B4-BE49-F238E27FC236}">
                    <a16:creationId xmlns:a16="http://schemas.microsoft.com/office/drawing/2014/main" id="{E18BADA8-6354-5008-60BE-96968B83C65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本作业的评测主要包括定量指标和可视化结果。定量指标使用 </a:t>
                </a:r>
                <a:r>
                  <a:rPr lang="en" altLang="zh-CN" dirty="0"/>
                  <a:t>PSNR </a:t>
                </a:r>
                <a:r>
                  <a:rPr lang="zh-CN" altLang="en-US" dirty="0"/>
                  <a:t>和 </a:t>
                </a:r>
                <a:r>
                  <a:rPr lang="en" altLang="zh-CN" dirty="0"/>
                  <a:t>SSIM</a:t>
                </a:r>
                <a:r>
                  <a:rPr lang="zh-CN" altLang="en" dirty="0"/>
                  <a:t>。</a:t>
                </a:r>
                <a:r>
                  <a:rPr lang="zh-CN" altLang="en-US" dirty="0"/>
                  <a:t>对于灰度自然视频帧，真实图像记作 </a:t>
                </a:r>
                <a:r>
                  <a:rPr lang="zh-CN" altLang="en-US" sz="1200" i="0" kern="1200">
                    <a:solidFill>
                      <a:schemeClr val="tx1"/>
                    </a:solidFill>
                    <a:latin typeface="+mn-lt"/>
                    <a:ea typeface="+mn-ea"/>
                    <a:cs typeface="+mn-cs"/>
                  </a:rPr>
                  <a:t>𝐼</a:t>
                </a:r>
                <a:r>
                  <a:rPr lang="zh-CN" altLang="en-US" dirty="0"/>
                  <a:t>，重建图像记作 </a:t>
                </a:r>
                <a:r>
                  <a:rPr lang="ar-AE" altLang="zh-CN" sz="1200" i="0" kern="1200">
                    <a:solidFill>
                      <a:schemeClr val="tx1"/>
                    </a:solidFill>
                    <a:latin typeface="+mn-lt"/>
                    <a:ea typeface="+mn-ea"/>
                    <a:cs typeface="+mn-cs"/>
                  </a:rPr>
                  <a:t>𝐼 ̂</a:t>
                </a:r>
                <a:r>
                  <a:rPr lang="zh-CN" altLang="ar-AE" dirty="0"/>
                  <a:t>，</a:t>
                </a:r>
                <a:r>
                  <a:rPr lang="zh-CN" altLang="en-US" dirty="0"/>
                  <a:t>首先计算像素级均方误差：</a:t>
                </a:r>
                <a:r>
                  <a:rPr lang="en" altLang="zh-CN" sz="1200" i="0" kern="1200">
                    <a:solidFill>
                      <a:schemeClr val="tx1"/>
                    </a:solidFill>
                    <a:latin typeface="+mn-lt"/>
                    <a:ea typeface="+mn-ea"/>
                    <a:cs typeface="+mn-cs"/>
                  </a:rPr>
                  <a:t>MSE=</a:t>
                </a:r>
                <a:r>
                  <a:rPr lang="ar-AE" altLang="zh-CN" sz="1200" i="0" kern="1200">
                    <a:solidFill>
                      <a:schemeClr val="tx1"/>
                    </a:solidFill>
                    <a:latin typeface="+mn-lt"/>
                    <a:ea typeface="+mn-ea"/>
                    <a:cs typeface="+mn-cs"/>
                  </a:rPr>
                  <a:t>1/𝐻𝑊 ∑130_(𝑖,𝑗)▒( ├ 𝐼_𝑖𝑗−𝐼 ̂_𝑖𝑗 ├ )┤^2 ┤</a:t>
                </a:r>
                <a:r>
                  <a:rPr lang="zh-CN" altLang="ar-AE" dirty="0"/>
                  <a:t>。</a:t>
                </a:r>
                <a:r>
                  <a:rPr lang="en" altLang="zh-CN" dirty="0"/>
                  <a:t>PSNR </a:t>
                </a:r>
                <a:r>
                  <a:rPr lang="zh-CN" altLang="en-US" dirty="0"/>
                  <a:t>定义为 </a:t>
                </a:r>
                <a:r>
                  <a:rPr lang="en" altLang="zh-CN" sz="1200" i="0" kern="1200">
                    <a:solidFill>
                      <a:schemeClr val="tx1"/>
                    </a:solidFill>
                    <a:latin typeface="+mn-lt"/>
                    <a:ea typeface="+mn-ea"/>
                    <a:cs typeface="+mn-cs"/>
                  </a:rPr>
                  <a:t>PSNR=10</a:t>
                </a:r>
                <a:r>
                  <a:rPr lang="ar-AE" altLang="zh-CN" sz="1200" i="0" kern="1200">
                    <a:solidFill>
                      <a:schemeClr val="tx1"/>
                    </a:solidFill>
                    <a:latin typeface="+mn-lt"/>
                    <a:ea typeface="+mn-ea"/>
                    <a:cs typeface="+mn-cs"/>
                  </a:rPr>
                  <a:t>〖</a:t>
                </a:r>
                <a:r>
                  <a:rPr lang="en" altLang="zh-CN" sz="1200" i="0" kern="1200">
                    <a:solidFill>
                      <a:schemeClr val="tx1"/>
                    </a:solidFill>
                    <a:latin typeface="+mn-lt"/>
                    <a:ea typeface="+mn-ea"/>
                    <a:cs typeface="+mn-cs"/>
                  </a:rPr>
                  <a:t>log</a:t>
                </a:r>
                <a:r>
                  <a:rPr lang="ar-AE" altLang="zh-CN" sz="1200" i="0" kern="1200">
                    <a:solidFill>
                      <a:schemeClr val="tx1"/>
                    </a:solidFill>
                    <a:latin typeface="+mn-lt"/>
                    <a:ea typeface="+mn-ea"/>
                    <a:cs typeface="+mn-cs"/>
                  </a:rPr>
                  <a:t>⁡ 〗_10 (</a:t>
                </a:r>
                <a:r>
                  <a:rPr lang="en" altLang="zh-CN" sz="1200" i="0" kern="1200">
                    <a:solidFill>
                      <a:schemeClr val="tx1"/>
                    </a:solidFill>
                    <a:latin typeface="+mn-lt"/>
                    <a:ea typeface="+mn-ea"/>
                    <a:cs typeface="+mn-cs"/>
                  </a:rPr>
                  <a:t>MAX</a:t>
                </a:r>
                <a:r>
                  <a:rPr lang="ar-AE" altLang="zh-CN" sz="1200" i="0" kern="1200">
                    <a:solidFill>
                      <a:schemeClr val="tx1"/>
                    </a:solidFill>
                    <a:latin typeface="+mn-lt"/>
                    <a:ea typeface="+mn-ea"/>
                    <a:cs typeface="+mn-cs"/>
                  </a:rPr>
                  <a:t>_𝐼^2/</a:t>
                </a:r>
                <a:r>
                  <a:rPr lang="en" altLang="zh-CN" sz="1200" i="0" kern="1200">
                    <a:solidFill>
                      <a:schemeClr val="tx1"/>
                    </a:solidFill>
                    <a:latin typeface="+mn-lt"/>
                    <a:ea typeface="+mn-ea"/>
                    <a:cs typeface="+mn-cs"/>
                  </a:rPr>
                  <a:t>MSE</a:t>
                </a:r>
                <a:r>
                  <a:rPr lang="ar-AE" altLang="zh-CN" sz="1200" i="0" kern="1200">
                    <a:solidFill>
                      <a:schemeClr val="tx1"/>
                    </a:solidFill>
                    <a:latin typeface="+mn-lt"/>
                    <a:ea typeface="+mn-ea"/>
                    <a:cs typeface="+mn-cs"/>
                  </a:rPr>
                  <a:t>)</a:t>
                </a:r>
                <a:r>
                  <a:rPr lang="zh-CN" altLang="ar-AE" dirty="0"/>
                  <a:t>，</a:t>
                </a:r>
                <a:r>
                  <a:rPr lang="zh-CN" altLang="en-US" dirty="0"/>
                  <a:t>如果图像归一化到 </a:t>
                </a:r>
                <a:r>
                  <a:rPr lang="ar-AE" altLang="zh-CN" sz="1200" i="0" kern="1200">
                    <a:solidFill>
                      <a:schemeClr val="tx1"/>
                    </a:solidFill>
                    <a:latin typeface="+mn-lt"/>
                    <a:ea typeface="+mn-ea"/>
                    <a:cs typeface="+mn-cs"/>
                  </a:rPr>
                  <a:t>[0ⓜ,1]</a:t>
                </a:r>
                <a:r>
                  <a:rPr lang="zh-CN" altLang="ar-AE" dirty="0"/>
                  <a:t>，</a:t>
                </a:r>
                <a:r>
                  <a:rPr lang="zh-CN" altLang="en-US" dirty="0"/>
                  <a:t>则 </a:t>
                </a:r>
                <a:r>
                  <a:rPr lang="en" altLang="zh-CN" sz="1200" i="0" kern="1200">
                    <a:solidFill>
                      <a:schemeClr val="tx1"/>
                    </a:solidFill>
                    <a:latin typeface="+mn-lt"/>
                    <a:ea typeface="+mn-ea"/>
                    <a:cs typeface="+mn-cs"/>
                  </a:rPr>
                  <a:t>MAX</a:t>
                </a:r>
                <a:r>
                  <a:rPr lang="ar-AE" altLang="zh-CN" sz="1200" i="0" kern="1200">
                    <a:solidFill>
                      <a:schemeClr val="tx1"/>
                    </a:solidFill>
                    <a:latin typeface="+mn-lt"/>
                    <a:ea typeface="+mn-ea"/>
                    <a:cs typeface="+mn-cs"/>
                  </a:rPr>
                  <a:t>_𝐼=1</a:t>
                </a:r>
                <a:r>
                  <a:rPr lang="zh-CN" altLang="ar-AE" dirty="0"/>
                  <a:t>。</a:t>
                </a:r>
                <a:r>
                  <a:rPr lang="en" altLang="zh-CN" dirty="0"/>
                  <a:t>PSNR </a:t>
                </a:r>
                <a:r>
                  <a:rPr lang="zh-CN" altLang="en-US" dirty="0"/>
                  <a:t>可以理解为把 </a:t>
                </a:r>
                <a:r>
                  <a:rPr lang="en" altLang="zh-CN" dirty="0"/>
                  <a:t>MSE </a:t>
                </a:r>
                <a:r>
                  <a:rPr lang="zh-CN" altLang="en-US" dirty="0"/>
                  <a:t>反过来再取对数，数值越高说明重建图像和真实图像的像素亮度越接近。</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SSIM </a:t>
                </a:r>
                <a:r>
                  <a:rPr lang="zh-CN" altLang="en-US" dirty="0"/>
                  <a:t>把图像质量拆成三个问题：第一，整体亮度像不像；第二，对比度，也就是明暗变化强弱像不像；第三，结构像不像，比如边缘、轮廓和纹理有没有对上。它会在图像的多个局部窗口上计算这些相似性，最后取平均。因此，</a:t>
                </a:r>
                <a:r>
                  <a:rPr lang="en" altLang="zh-CN" dirty="0"/>
                  <a:t>SSIM </a:t>
                </a:r>
                <a:r>
                  <a:rPr lang="zh-CN" altLang="en-US" dirty="0"/>
                  <a:t>比 </a:t>
                </a:r>
                <a:r>
                  <a:rPr lang="en" altLang="zh-CN" dirty="0"/>
                  <a:t>PSNR </a:t>
                </a:r>
                <a:r>
                  <a:rPr lang="zh-CN" altLang="en-US" dirty="0"/>
                  <a:t>更关注图像结构和视觉感受。</a:t>
                </a:r>
                <a:r>
                  <a:rPr lang="en" altLang="zh-CN" dirty="0"/>
                  <a:t>PSNR </a:t>
                </a:r>
                <a:r>
                  <a:rPr lang="zh-CN" altLang="en-US" dirty="0"/>
                  <a:t>主要看像素误差，而 </a:t>
                </a:r>
                <a:r>
                  <a:rPr lang="en" altLang="zh-CN" dirty="0"/>
                  <a:t>SSIM </a:t>
                </a:r>
                <a:r>
                  <a:rPr lang="zh-CN" altLang="en-US" dirty="0"/>
                  <a:t>更关心重建图像看起来是不是像原图。</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简单来说，</a:t>
                </a:r>
                <a:r>
                  <a:rPr lang="en" altLang="zh-CN" dirty="0"/>
                  <a:t>PSNR </a:t>
                </a:r>
                <a:r>
                  <a:rPr lang="zh-CN" altLang="en-US" dirty="0"/>
                  <a:t>回答“像素亮度准不准”，</a:t>
                </a:r>
                <a:r>
                  <a:rPr lang="en" altLang="zh-CN" dirty="0"/>
                  <a:t>SSIM </a:t>
                </a:r>
                <a:r>
                  <a:rPr lang="zh-CN" altLang="en-US" dirty="0"/>
                  <a:t>回答“图像结构像不像”；一个好的重建模型应该同时有较高的 </a:t>
                </a:r>
                <a:r>
                  <a:rPr lang="en" altLang="zh-CN" dirty="0"/>
                  <a:t>PSNR</a:t>
                </a:r>
                <a:r>
                  <a:rPr lang="zh-CN" altLang="en" dirty="0"/>
                  <a:t>、</a:t>
                </a:r>
                <a:r>
                  <a:rPr lang="zh-CN" altLang="en-US" dirty="0"/>
                  <a:t>较高的 </a:t>
                </a:r>
                <a:r>
                  <a:rPr lang="en" altLang="zh-CN" dirty="0"/>
                  <a:t>SSIM</a:t>
                </a:r>
                <a:r>
                  <a:rPr lang="zh-CN" altLang="en" dirty="0"/>
                  <a:t>，</a:t>
                </a:r>
                <a:r>
                  <a:rPr lang="zh-CN" altLang="en-US" dirty="0"/>
                  <a:t>并且可视化结果中能看出清楚的自然视频结构。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mc:Fallback>
      </mc:AlternateContent>
      <p:sp>
        <p:nvSpPr>
          <p:cNvPr id="4" name="灯片编号占位符 3">
            <a:extLst>
              <a:ext uri="{FF2B5EF4-FFF2-40B4-BE49-F238E27FC236}">
                <a16:creationId xmlns:a16="http://schemas.microsoft.com/office/drawing/2014/main" id="{E2D17F7E-CDF5-F0CE-2652-BDED8B9A66A0}"/>
              </a:ext>
            </a:extLst>
          </p:cNvPr>
          <p:cNvSpPr>
            <a:spLocks noGrp="1"/>
          </p:cNvSpPr>
          <p:nvPr>
            <p:ph type="sldNum" sz="quarter" idx="5"/>
          </p:nvPr>
        </p:nvSpPr>
        <p:spPr/>
        <p:txBody>
          <a:bodyPr/>
          <a:lstStyle/>
          <a:p>
            <a:fld id="{6D18717E-F74C-4246-A795-6577BEDC8382}" type="slidenum">
              <a:rPr kumimoji="1" lang="zh-CN" altLang="en-US" smtClean="0"/>
              <a:t>5</a:t>
            </a:fld>
            <a:endParaRPr kumimoji="1" lang="zh-CN" altLang="en-US"/>
          </a:p>
        </p:txBody>
      </p:sp>
    </p:spTree>
    <p:extLst>
      <p:ext uri="{BB962C8B-B14F-4D97-AF65-F5344CB8AC3E}">
        <p14:creationId xmlns:p14="http://schemas.microsoft.com/office/powerpoint/2010/main" val="30136176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11C919A1-7361-1F44-B599-7E9DB3DD7A32}"/>
              </a:ext>
            </a:extLst>
          </p:cNvPr>
          <p:cNvSpPr/>
          <p:nvPr userDrawn="1"/>
        </p:nvSpPr>
        <p:spPr>
          <a:xfrm>
            <a:off x="378178" y="1750294"/>
            <a:ext cx="11435645" cy="2323425"/>
          </a:xfrm>
          <a:prstGeom prst="rect">
            <a:avLst/>
          </a:prstGeom>
          <a:solidFill>
            <a:srgbClr val="0E419C"/>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10" name="Rectangle 8">
            <a:extLst>
              <a:ext uri="{FF2B5EF4-FFF2-40B4-BE49-F238E27FC236}">
                <a16:creationId xmlns:a16="http://schemas.microsoft.com/office/drawing/2014/main" id="{27E11570-1C13-394D-8C65-136BC3D04ED2}"/>
              </a:ext>
            </a:extLst>
          </p:cNvPr>
          <p:cNvSpPr/>
          <p:nvPr userDrawn="1"/>
        </p:nvSpPr>
        <p:spPr>
          <a:xfrm>
            <a:off x="8382000" y="4155707"/>
            <a:ext cx="3431823" cy="72000"/>
          </a:xfrm>
          <a:prstGeom prst="rect">
            <a:avLst/>
          </a:prstGeom>
          <a:solidFill>
            <a:srgbClr val="0E419C"/>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11" name="Rectangle 9">
            <a:extLst>
              <a:ext uri="{FF2B5EF4-FFF2-40B4-BE49-F238E27FC236}">
                <a16:creationId xmlns:a16="http://schemas.microsoft.com/office/drawing/2014/main" id="{5FB5F265-5FC7-B54E-AB48-4D8DA46E458F}"/>
              </a:ext>
            </a:extLst>
          </p:cNvPr>
          <p:cNvSpPr/>
          <p:nvPr userDrawn="1"/>
        </p:nvSpPr>
        <p:spPr>
          <a:xfrm>
            <a:off x="378177" y="4155707"/>
            <a:ext cx="7918756"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12" name="Title 1">
            <a:extLst>
              <a:ext uri="{FF2B5EF4-FFF2-40B4-BE49-F238E27FC236}">
                <a16:creationId xmlns:a16="http://schemas.microsoft.com/office/drawing/2014/main" id="{43FE9298-60C2-9548-BC1E-E8694904B371}"/>
              </a:ext>
            </a:extLst>
          </p:cNvPr>
          <p:cNvSpPr>
            <a:spLocks noGrp="1"/>
          </p:cNvSpPr>
          <p:nvPr>
            <p:ph type="ctrTitle"/>
          </p:nvPr>
        </p:nvSpPr>
        <p:spPr>
          <a:xfrm>
            <a:off x="599226" y="1921565"/>
            <a:ext cx="10993549" cy="1961322"/>
          </a:xfrm>
          <a:prstGeom prst="rect">
            <a:avLst/>
          </a:prstGeom>
          <a:effectLst/>
        </p:spPr>
        <p:txBody>
          <a:bodyPr anchor="ctr">
            <a:normAutofit/>
          </a:bodyPr>
          <a:lstStyle>
            <a:lvl1pPr algn="ctr">
              <a:defRPr lang="en-US" altLang="en-US" sz="3600" b="0" kern="1200" cap="none" baseline="0" dirty="0">
                <a:solidFill>
                  <a:schemeClr val="bg1"/>
                </a:solidFill>
                <a:latin typeface="+mj-lt"/>
                <a:ea typeface="+mj-ea"/>
                <a:cs typeface="+mj-cs"/>
              </a:defRPr>
            </a:lvl1pPr>
          </a:lstStyle>
          <a:p>
            <a:r>
              <a:rPr lang="zh-CN" altLang="en-US" dirty="0"/>
              <a:t>单击此处编辑母版标题样式</a:t>
            </a:r>
            <a:endParaRPr lang="en-US" dirty="0"/>
          </a:p>
        </p:txBody>
      </p:sp>
      <p:sp>
        <p:nvSpPr>
          <p:cNvPr id="13" name="Subtitle 2">
            <a:extLst>
              <a:ext uri="{FF2B5EF4-FFF2-40B4-BE49-F238E27FC236}">
                <a16:creationId xmlns:a16="http://schemas.microsoft.com/office/drawing/2014/main" id="{103A73B5-4CCB-264A-803E-B46FEDFF9626}"/>
              </a:ext>
            </a:extLst>
          </p:cNvPr>
          <p:cNvSpPr>
            <a:spLocks noGrp="1"/>
          </p:cNvSpPr>
          <p:nvPr>
            <p:ph type="subTitle" idx="1"/>
          </p:nvPr>
        </p:nvSpPr>
        <p:spPr>
          <a:xfrm>
            <a:off x="581194" y="4352306"/>
            <a:ext cx="10993546" cy="1340999"/>
          </a:xfrm>
        </p:spPr>
        <p:txBody>
          <a:bodyPr anchor="t">
            <a:normAutofit/>
          </a:bodyPr>
          <a:lstStyle>
            <a:lvl1pPr marL="0" indent="0" algn="ctr">
              <a:buNone/>
              <a:defRPr sz="2000" cap="none" baseline="0">
                <a:solidFill>
                  <a:srgbClr val="0E419C"/>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sp>
        <p:nvSpPr>
          <p:cNvPr id="14" name="Date Placeholder 3">
            <a:extLst>
              <a:ext uri="{FF2B5EF4-FFF2-40B4-BE49-F238E27FC236}">
                <a16:creationId xmlns:a16="http://schemas.microsoft.com/office/drawing/2014/main" id="{27C9BA39-4396-944E-8847-8AA1FB4D7EF5}"/>
              </a:ext>
            </a:extLst>
          </p:cNvPr>
          <p:cNvSpPr>
            <a:spLocks noGrp="1"/>
          </p:cNvSpPr>
          <p:nvPr>
            <p:ph type="dt" sz="half" idx="10"/>
          </p:nvPr>
        </p:nvSpPr>
        <p:spPr>
          <a:xfrm>
            <a:off x="7605953" y="5956139"/>
            <a:ext cx="2844799" cy="365125"/>
          </a:xfrm>
        </p:spPr>
        <p:txBody>
          <a:bodyPr/>
          <a:lstStyle>
            <a:lvl1pPr>
              <a:defRPr>
                <a:solidFill>
                  <a:srgbClr val="0E419C"/>
                </a:solidFill>
              </a:defRPr>
            </a:lvl1pPr>
          </a:lstStyle>
          <a:p>
            <a:fld id="{E4551058-E5DB-324A-A8E9-6D3BEF243C3B}" type="datetimeFigureOut">
              <a:rPr kumimoji="1" lang="zh-CN" altLang="en-US" smtClean="0"/>
              <a:pPr/>
              <a:t>2026/6/10</a:t>
            </a:fld>
            <a:endParaRPr kumimoji="1" lang="zh-CN" altLang="en-US"/>
          </a:p>
        </p:txBody>
      </p:sp>
      <p:sp>
        <p:nvSpPr>
          <p:cNvPr id="15" name="Footer Placeholder 4">
            <a:extLst>
              <a:ext uri="{FF2B5EF4-FFF2-40B4-BE49-F238E27FC236}">
                <a16:creationId xmlns:a16="http://schemas.microsoft.com/office/drawing/2014/main" id="{2046AEFE-93F1-C842-BBEF-EA6F5A8D976C}"/>
              </a:ext>
            </a:extLst>
          </p:cNvPr>
          <p:cNvSpPr>
            <a:spLocks noGrp="1"/>
          </p:cNvSpPr>
          <p:nvPr>
            <p:ph type="ftr" sz="quarter" idx="11"/>
          </p:nvPr>
        </p:nvSpPr>
        <p:spPr>
          <a:xfrm>
            <a:off x="581192" y="5951813"/>
            <a:ext cx="6917211" cy="365125"/>
          </a:xfrm>
        </p:spPr>
        <p:txBody>
          <a:bodyPr/>
          <a:lstStyle>
            <a:lvl1pPr>
              <a:defRPr>
                <a:solidFill>
                  <a:srgbClr val="0E419C"/>
                </a:solidFill>
              </a:defRPr>
            </a:lvl1pPr>
          </a:lstStyle>
          <a:p>
            <a:endParaRPr kumimoji="1" lang="zh-CN" altLang="en-US"/>
          </a:p>
        </p:txBody>
      </p:sp>
      <p:sp>
        <p:nvSpPr>
          <p:cNvPr id="16" name="Slide Number Placeholder 5">
            <a:extLst>
              <a:ext uri="{FF2B5EF4-FFF2-40B4-BE49-F238E27FC236}">
                <a16:creationId xmlns:a16="http://schemas.microsoft.com/office/drawing/2014/main" id="{DC680849-96D9-DD4B-8BEC-6C1105997248}"/>
              </a:ext>
            </a:extLst>
          </p:cNvPr>
          <p:cNvSpPr>
            <a:spLocks noGrp="1"/>
          </p:cNvSpPr>
          <p:nvPr>
            <p:ph type="sldNum" sz="quarter" idx="12"/>
          </p:nvPr>
        </p:nvSpPr>
        <p:spPr>
          <a:xfrm>
            <a:off x="10558301" y="5956139"/>
            <a:ext cx="1052508" cy="365125"/>
          </a:xfrm>
        </p:spPr>
        <p:txBody>
          <a:bodyPr/>
          <a:lstStyle>
            <a:lvl1pPr>
              <a:defRPr>
                <a:solidFill>
                  <a:srgbClr val="0E419C"/>
                </a:solidFill>
              </a:defRPr>
            </a:lvl1pPr>
          </a:lstStyle>
          <a:p>
            <a:fld id="{977BA8E6-E826-B147-AA17-E3D76A29629C}" type="slidenum">
              <a:rPr kumimoji="1" lang="zh-CN" altLang="en-US" smtClean="0"/>
              <a:pPr/>
              <a:t>‹Nº›</a:t>
            </a:fld>
            <a:endParaRPr kumimoji="1" lang="zh-CN" altLang="en-US"/>
          </a:p>
        </p:txBody>
      </p:sp>
      <p:pic>
        <p:nvPicPr>
          <p:cNvPr id="4" name="Picture 3" descr="Blue writing on a black background&#10;&#10;Description automatically generated">
            <a:extLst>
              <a:ext uri="{FF2B5EF4-FFF2-40B4-BE49-F238E27FC236}">
                <a16:creationId xmlns:a16="http://schemas.microsoft.com/office/drawing/2014/main" id="{45279868-90A0-D8FB-6DCB-F174CA021638}"/>
              </a:ext>
            </a:extLst>
          </p:cNvPr>
          <p:cNvPicPr>
            <a:picLocks noChangeAspect="1"/>
          </p:cNvPicPr>
          <p:nvPr userDrawn="1"/>
        </p:nvPicPr>
        <p:blipFill>
          <a:blip r:embed="rId2"/>
          <a:stretch>
            <a:fillRect/>
          </a:stretch>
        </p:blipFill>
        <p:spPr>
          <a:xfrm>
            <a:off x="378177" y="451525"/>
            <a:ext cx="2677845" cy="838517"/>
          </a:xfrm>
          <a:prstGeom prst="rect">
            <a:avLst/>
          </a:prstGeom>
        </p:spPr>
      </p:pic>
    </p:spTree>
    <p:extLst>
      <p:ext uri="{BB962C8B-B14F-4D97-AF65-F5344CB8AC3E}">
        <p14:creationId xmlns:p14="http://schemas.microsoft.com/office/powerpoint/2010/main" val="9349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4" y="2180498"/>
            <a:ext cx="11029615" cy="367830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2026/6/10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977BA8E6-E826-B147-AA17-E3D76A29629C}" type="slidenum">
              <a:rPr kumimoji="1" lang="zh-CN" altLang="en-US" smtClean="0"/>
              <a:t>‹Nº›</a:t>
            </a:fld>
            <a:endParaRPr kumimoji="1" lang="zh-CN" altLang="en-US"/>
          </a:p>
        </p:txBody>
      </p:sp>
      <p:sp>
        <p:nvSpPr>
          <p:cNvPr id="8" name="标题 7">
            <a:extLst>
              <a:ext uri="{FF2B5EF4-FFF2-40B4-BE49-F238E27FC236}">
                <a16:creationId xmlns:a16="http://schemas.microsoft.com/office/drawing/2014/main" id="{C91EB146-E429-F542-B185-DC14BCA9BC59}"/>
              </a:ext>
            </a:extLst>
          </p:cNvPr>
          <p:cNvSpPr>
            <a:spLocks noGrp="1"/>
          </p:cNvSpPr>
          <p:nvPr>
            <p:ph type="title"/>
          </p:nvPr>
        </p:nvSpPr>
        <p:spPr/>
        <p:txBody>
          <a:bodyPr/>
          <a:lstStyle/>
          <a:p>
            <a:r>
              <a:rPr kumimoji="1" lang="zh-CN" altLang="en-US" dirty="0"/>
              <a:t>单击此处编辑母版标题样式</a:t>
            </a:r>
          </a:p>
        </p:txBody>
      </p:sp>
    </p:spTree>
    <p:extLst>
      <p:ext uri="{BB962C8B-B14F-4D97-AF65-F5344CB8AC3E}">
        <p14:creationId xmlns:p14="http://schemas.microsoft.com/office/powerpoint/2010/main" val="3409904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12" name="Rectangle 6">
            <a:extLst>
              <a:ext uri="{FF2B5EF4-FFF2-40B4-BE49-F238E27FC236}">
                <a16:creationId xmlns:a16="http://schemas.microsoft.com/office/drawing/2014/main" id="{D2AB89F7-7C87-3347-A0CB-FCEE9D36F083}"/>
              </a:ext>
            </a:extLst>
          </p:cNvPr>
          <p:cNvSpPr>
            <a:spLocks noChangeAspect="1"/>
          </p:cNvSpPr>
          <p:nvPr userDrawn="1"/>
        </p:nvSpPr>
        <p:spPr>
          <a:xfrm>
            <a:off x="564440" y="599725"/>
            <a:ext cx="2906817" cy="5816950"/>
          </a:xfrm>
          <a:prstGeom prst="rect">
            <a:avLst/>
          </a:prstGeom>
          <a:solidFill>
            <a:srgbClr val="0E419C"/>
          </a:solidFill>
          <a:ln>
            <a:noFill/>
          </a:ln>
          <a:effectLst/>
        </p:spPr>
        <p:style>
          <a:lnRef idx="1">
            <a:schemeClr val="accent1"/>
          </a:lnRef>
          <a:fillRef idx="3">
            <a:schemeClr val="accent1"/>
          </a:fillRef>
          <a:effectRef idx="2">
            <a:schemeClr val="accent1"/>
          </a:effectRef>
          <a:fontRef idx="minor">
            <a:schemeClr val="lt1"/>
          </a:fontRef>
        </p:style>
      </p:sp>
      <p:sp>
        <p:nvSpPr>
          <p:cNvPr id="11" name="Content Placeholder 2">
            <a:extLst>
              <a:ext uri="{FF2B5EF4-FFF2-40B4-BE49-F238E27FC236}">
                <a16:creationId xmlns:a16="http://schemas.microsoft.com/office/drawing/2014/main" id="{26727754-C851-C341-8EC8-C90F9BC75713}"/>
              </a:ext>
            </a:extLst>
          </p:cNvPr>
          <p:cNvSpPr>
            <a:spLocks noGrp="1"/>
          </p:cNvSpPr>
          <p:nvPr>
            <p:ph idx="1"/>
          </p:nvPr>
        </p:nvSpPr>
        <p:spPr>
          <a:xfrm>
            <a:off x="5544289" y="1137355"/>
            <a:ext cx="6066519" cy="4583289"/>
          </a:xfr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13" name="Date Placeholder 3">
            <a:extLst>
              <a:ext uri="{FF2B5EF4-FFF2-40B4-BE49-F238E27FC236}">
                <a16:creationId xmlns:a16="http://schemas.microsoft.com/office/drawing/2014/main" id="{83F81271-2815-9B4A-9DE1-54434A60C989}"/>
              </a:ext>
            </a:extLst>
          </p:cNvPr>
          <p:cNvSpPr>
            <a:spLocks noGrp="1"/>
          </p:cNvSpPr>
          <p:nvPr>
            <p:ph type="dt" sz="half" idx="10"/>
          </p:nvPr>
        </p:nvSpPr>
        <p:spPr>
          <a:xfrm>
            <a:off x="7605951" y="5956137"/>
            <a:ext cx="2844799" cy="365125"/>
          </a:xfrm>
        </p:spPr>
        <p:txBody>
          <a:bodyPr/>
          <a:lstStyle/>
          <a:p>
            <a:fld id="{E4551058-E5DB-324A-A8E9-6D3BEF243C3B}" type="datetimeFigureOut">
              <a:rPr kumimoji="1" lang="zh-CN" altLang="en-US" smtClean="0"/>
              <a:t>2026/6/10</a:t>
            </a:fld>
            <a:endParaRPr kumimoji="1" lang="zh-CN" altLang="en-US"/>
          </a:p>
        </p:txBody>
      </p:sp>
      <p:sp>
        <p:nvSpPr>
          <p:cNvPr id="16" name="Footer Placeholder 4">
            <a:extLst>
              <a:ext uri="{FF2B5EF4-FFF2-40B4-BE49-F238E27FC236}">
                <a16:creationId xmlns:a16="http://schemas.microsoft.com/office/drawing/2014/main" id="{A57A6457-265E-454A-8DEA-AC0A1AAC3647}"/>
              </a:ext>
            </a:extLst>
          </p:cNvPr>
          <p:cNvSpPr>
            <a:spLocks noGrp="1"/>
          </p:cNvSpPr>
          <p:nvPr>
            <p:ph type="ftr" sz="quarter" idx="11"/>
          </p:nvPr>
        </p:nvSpPr>
        <p:spPr>
          <a:xfrm>
            <a:off x="581192" y="5951811"/>
            <a:ext cx="6917210" cy="365125"/>
          </a:xfrm>
        </p:spPr>
        <p:txBody>
          <a:bodyPr/>
          <a:lstStyle/>
          <a:p>
            <a:endParaRPr kumimoji="1" lang="zh-CN" altLang="en-US"/>
          </a:p>
        </p:txBody>
      </p:sp>
      <p:sp>
        <p:nvSpPr>
          <p:cNvPr id="17" name="Slide Number Placeholder 5">
            <a:extLst>
              <a:ext uri="{FF2B5EF4-FFF2-40B4-BE49-F238E27FC236}">
                <a16:creationId xmlns:a16="http://schemas.microsoft.com/office/drawing/2014/main" id="{17055F7E-60B7-6A43-A3E4-C6F9DC89FA56}"/>
              </a:ext>
            </a:extLst>
          </p:cNvPr>
          <p:cNvSpPr>
            <a:spLocks noGrp="1"/>
          </p:cNvSpPr>
          <p:nvPr>
            <p:ph type="sldNum" sz="quarter" idx="12"/>
          </p:nvPr>
        </p:nvSpPr>
        <p:spPr>
          <a:xfrm>
            <a:off x="10558300" y="5956137"/>
            <a:ext cx="1052508" cy="365125"/>
          </a:xfrm>
        </p:spPr>
        <p:txBody>
          <a:bodyPr/>
          <a:lstStyle/>
          <a:p>
            <a:fld id="{977BA8E6-E826-B147-AA17-E3D76A29629C}" type="slidenum">
              <a:rPr kumimoji="1" lang="zh-CN" altLang="en-US" smtClean="0"/>
              <a:t>‹Nº›</a:t>
            </a:fld>
            <a:endParaRPr kumimoji="1" lang="zh-CN" altLang="en-US"/>
          </a:p>
        </p:txBody>
      </p:sp>
      <p:sp>
        <p:nvSpPr>
          <p:cNvPr id="18" name="Title 1">
            <a:extLst>
              <a:ext uri="{FF2B5EF4-FFF2-40B4-BE49-F238E27FC236}">
                <a16:creationId xmlns:a16="http://schemas.microsoft.com/office/drawing/2014/main" id="{4D989D6D-F1B5-F54E-813A-CCB6A463D717}"/>
              </a:ext>
            </a:extLst>
          </p:cNvPr>
          <p:cNvSpPr>
            <a:spLocks noGrp="1"/>
          </p:cNvSpPr>
          <p:nvPr>
            <p:ph type="title"/>
          </p:nvPr>
        </p:nvSpPr>
        <p:spPr>
          <a:xfrm>
            <a:off x="733774" y="1964074"/>
            <a:ext cx="2568408" cy="2929850"/>
          </a:xfrm>
          <a:prstGeom prst="rect">
            <a:avLst/>
          </a:prstGeom>
        </p:spPr>
        <p:txBody>
          <a:bodyPr anchor="ctr">
            <a:normAutofit/>
          </a:bodyPr>
          <a:lstStyle>
            <a:lvl1pPr algn="ctr">
              <a:defRPr sz="3600"/>
            </a:lvl1pPr>
          </a:lstStyle>
          <a:p>
            <a:r>
              <a:rPr lang="zh-CN" altLang="en-US" dirty="0"/>
              <a:t>单击此处编辑母版标题样式</a:t>
            </a:r>
            <a:endParaRPr lang="en-US" dirty="0"/>
          </a:p>
        </p:txBody>
      </p:sp>
      <p:sp>
        <p:nvSpPr>
          <p:cNvPr id="20" name="Rectangle 9">
            <a:extLst>
              <a:ext uri="{FF2B5EF4-FFF2-40B4-BE49-F238E27FC236}">
                <a16:creationId xmlns:a16="http://schemas.microsoft.com/office/drawing/2014/main" id="{F5609871-59AA-714A-B688-568A52C6B22B}"/>
              </a:ext>
            </a:extLst>
          </p:cNvPr>
          <p:cNvSpPr/>
          <p:nvPr userDrawn="1"/>
        </p:nvSpPr>
        <p:spPr>
          <a:xfrm rot="5400000">
            <a:off x="2678806" y="5475222"/>
            <a:ext cx="1800000"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8">
            <a:extLst>
              <a:ext uri="{FF2B5EF4-FFF2-40B4-BE49-F238E27FC236}">
                <a16:creationId xmlns:a16="http://schemas.microsoft.com/office/drawing/2014/main" id="{23D49990-DD79-AF4A-809C-C7A68D94B066}"/>
              </a:ext>
            </a:extLst>
          </p:cNvPr>
          <p:cNvSpPr/>
          <p:nvPr userDrawn="1"/>
        </p:nvSpPr>
        <p:spPr>
          <a:xfrm rot="5400000">
            <a:off x="1601532" y="2540998"/>
            <a:ext cx="3954547" cy="71999"/>
          </a:xfrm>
          <a:prstGeom prst="rect">
            <a:avLst/>
          </a:prstGeom>
          <a:solidFill>
            <a:srgbClr val="0E419C"/>
          </a:solidFill>
          <a:ln>
            <a:noFill/>
          </a:ln>
          <a:effectLst/>
        </p:spPr>
        <p:style>
          <a:lnRef idx="1">
            <a:schemeClr val="accent1"/>
          </a:lnRef>
          <a:fillRef idx="3">
            <a:schemeClr val="accent1"/>
          </a:fillRef>
          <a:effectRef idx="2">
            <a:schemeClr val="accent1"/>
          </a:effectRef>
          <a:fontRef idx="minor">
            <a:schemeClr val="lt1"/>
          </a:fontRef>
        </p:style>
      </p:sp>
      <p:pic>
        <p:nvPicPr>
          <p:cNvPr id="2" name="Picture 1" descr="A blue logo with text&#10;&#10;Description automatically generated">
            <a:extLst>
              <a:ext uri="{FF2B5EF4-FFF2-40B4-BE49-F238E27FC236}">
                <a16:creationId xmlns:a16="http://schemas.microsoft.com/office/drawing/2014/main" id="{A62419F0-BE6B-1AAD-4307-3A4C9205B118}"/>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661808" y="712150"/>
            <a:ext cx="851830" cy="850410"/>
          </a:xfrm>
          <a:prstGeom prst="rect">
            <a:avLst/>
          </a:prstGeom>
        </p:spPr>
      </p:pic>
    </p:spTree>
    <p:extLst>
      <p:ext uri="{BB962C8B-B14F-4D97-AF65-F5344CB8AC3E}">
        <p14:creationId xmlns:p14="http://schemas.microsoft.com/office/powerpoint/2010/main" val="2996159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7DE89DA6-356D-194E-8935-6C10024491A7}"/>
              </a:ext>
            </a:extLst>
          </p:cNvPr>
          <p:cNvSpPr>
            <a:spLocks noChangeAspect="1"/>
          </p:cNvSpPr>
          <p:nvPr userDrawn="1"/>
        </p:nvSpPr>
        <p:spPr>
          <a:xfrm>
            <a:off x="447817" y="5141974"/>
            <a:ext cx="11290860" cy="1258827"/>
          </a:xfrm>
          <a:prstGeom prst="rect">
            <a:avLst/>
          </a:prstGeom>
          <a:solidFill>
            <a:srgbClr val="0E419C"/>
          </a:solidFill>
          <a:ln>
            <a:noFill/>
          </a:ln>
          <a:effectLst/>
        </p:spPr>
        <p:style>
          <a:lnRef idx="1">
            <a:schemeClr val="accent1"/>
          </a:lnRef>
          <a:fillRef idx="3">
            <a:schemeClr val="accent1"/>
          </a:fillRef>
          <a:effectRef idx="2">
            <a:schemeClr val="accent1"/>
          </a:effectRef>
          <a:fontRef idx="minor">
            <a:schemeClr val="lt1"/>
          </a:fontRef>
        </p:style>
      </p:sp>
      <p:sp>
        <p:nvSpPr>
          <p:cNvPr id="17" name="Title 1">
            <a:extLst>
              <a:ext uri="{FF2B5EF4-FFF2-40B4-BE49-F238E27FC236}">
                <a16:creationId xmlns:a16="http://schemas.microsoft.com/office/drawing/2014/main" id="{54DB8D1A-12A8-B34E-ABB0-AFDEDA44F187}"/>
              </a:ext>
            </a:extLst>
          </p:cNvPr>
          <p:cNvSpPr>
            <a:spLocks noGrp="1"/>
          </p:cNvSpPr>
          <p:nvPr>
            <p:ph type="title"/>
          </p:nvPr>
        </p:nvSpPr>
        <p:spPr>
          <a:xfrm>
            <a:off x="581193" y="3043910"/>
            <a:ext cx="11029615" cy="1497507"/>
          </a:xfrm>
          <a:prstGeom prst="rect">
            <a:avLst/>
          </a:prstGeom>
        </p:spPr>
        <p:txBody>
          <a:bodyPr anchor="b">
            <a:normAutofit/>
          </a:bodyPr>
          <a:lstStyle>
            <a:lvl1pPr algn="l">
              <a:defRPr sz="3600" b="0" cap="none" baseline="0">
                <a:solidFill>
                  <a:srgbClr val="0E419C"/>
                </a:solidFill>
              </a:defRPr>
            </a:lvl1pPr>
          </a:lstStyle>
          <a:p>
            <a:r>
              <a:rPr lang="zh-CN" altLang="en-US" dirty="0"/>
              <a:t>单击此处编辑母版标题样式</a:t>
            </a:r>
            <a:endParaRPr lang="en-US" dirty="0"/>
          </a:p>
        </p:txBody>
      </p:sp>
      <p:sp>
        <p:nvSpPr>
          <p:cNvPr id="18" name="Text Placeholder 2">
            <a:extLst>
              <a:ext uri="{FF2B5EF4-FFF2-40B4-BE49-F238E27FC236}">
                <a16:creationId xmlns:a16="http://schemas.microsoft.com/office/drawing/2014/main" id="{D8C8D98C-AAE6-6D4F-8FDD-A93E2E1124F2}"/>
              </a:ext>
            </a:extLst>
          </p:cNvPr>
          <p:cNvSpPr>
            <a:spLocks noGrp="1"/>
          </p:cNvSpPr>
          <p:nvPr>
            <p:ph type="body" idx="1"/>
          </p:nvPr>
        </p:nvSpPr>
        <p:spPr>
          <a:xfrm>
            <a:off x="581192" y="4541417"/>
            <a:ext cx="11029615" cy="600556"/>
          </a:xfrm>
        </p:spPr>
        <p:txBody>
          <a:bodyPr anchor="t">
            <a:normAutofit/>
          </a:bodyPr>
          <a:lstStyle>
            <a:lvl1pPr marL="0" indent="0" algn="l">
              <a:buNone/>
              <a:defRPr sz="1800" cap="none" baseline="0">
                <a:solidFill>
                  <a:srgbClr val="0E419C"/>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19" name="Date Placeholder 3">
            <a:extLst>
              <a:ext uri="{FF2B5EF4-FFF2-40B4-BE49-F238E27FC236}">
                <a16:creationId xmlns:a16="http://schemas.microsoft.com/office/drawing/2014/main" id="{63894592-A78C-994C-A7F8-16460B6D0042}"/>
              </a:ext>
            </a:extLst>
          </p:cNvPr>
          <p:cNvSpPr>
            <a:spLocks noGrp="1"/>
          </p:cNvSpPr>
          <p:nvPr>
            <p:ph type="dt" sz="half" idx="10"/>
          </p:nvPr>
        </p:nvSpPr>
        <p:spPr>
          <a:xfrm>
            <a:off x="7605951" y="5956137"/>
            <a:ext cx="2844799" cy="365125"/>
          </a:xfrm>
        </p:spPr>
        <p:txBody>
          <a:bodyPr/>
          <a:lstStyle>
            <a:lvl1pPr>
              <a:defRPr>
                <a:solidFill>
                  <a:srgbClr val="0E419C"/>
                </a:solidFill>
              </a:defRPr>
            </a:lvl1pPr>
          </a:lstStyle>
          <a:p>
            <a:fld id="{E4551058-E5DB-324A-A8E9-6D3BEF243C3B}" type="datetimeFigureOut">
              <a:rPr kumimoji="1" lang="zh-CN" altLang="en-US" smtClean="0"/>
              <a:pPr/>
              <a:t>2026/6/10</a:t>
            </a:fld>
            <a:endParaRPr kumimoji="1" lang="zh-CN" altLang="en-US"/>
          </a:p>
        </p:txBody>
      </p:sp>
      <p:sp>
        <p:nvSpPr>
          <p:cNvPr id="20" name="Footer Placeholder 4">
            <a:extLst>
              <a:ext uri="{FF2B5EF4-FFF2-40B4-BE49-F238E27FC236}">
                <a16:creationId xmlns:a16="http://schemas.microsoft.com/office/drawing/2014/main" id="{620A79B4-2346-8146-8C5E-F662BBFFD574}"/>
              </a:ext>
            </a:extLst>
          </p:cNvPr>
          <p:cNvSpPr>
            <a:spLocks noGrp="1"/>
          </p:cNvSpPr>
          <p:nvPr>
            <p:ph type="ftr" sz="quarter" idx="11"/>
          </p:nvPr>
        </p:nvSpPr>
        <p:spPr>
          <a:xfrm>
            <a:off x="581192" y="5951811"/>
            <a:ext cx="6917210" cy="365125"/>
          </a:xfrm>
        </p:spPr>
        <p:txBody>
          <a:bodyPr/>
          <a:lstStyle>
            <a:lvl1pPr>
              <a:defRPr>
                <a:solidFill>
                  <a:srgbClr val="0E419C"/>
                </a:solidFill>
              </a:defRPr>
            </a:lvl1pPr>
          </a:lstStyle>
          <a:p>
            <a:endParaRPr kumimoji="1" lang="zh-CN" altLang="en-US"/>
          </a:p>
        </p:txBody>
      </p:sp>
      <p:sp>
        <p:nvSpPr>
          <p:cNvPr id="21" name="Slide Number Placeholder 5">
            <a:extLst>
              <a:ext uri="{FF2B5EF4-FFF2-40B4-BE49-F238E27FC236}">
                <a16:creationId xmlns:a16="http://schemas.microsoft.com/office/drawing/2014/main" id="{C7187CC3-F105-CE4C-957B-55AE9DA69507}"/>
              </a:ext>
            </a:extLst>
          </p:cNvPr>
          <p:cNvSpPr>
            <a:spLocks noGrp="1"/>
          </p:cNvSpPr>
          <p:nvPr>
            <p:ph type="sldNum" sz="quarter" idx="12"/>
          </p:nvPr>
        </p:nvSpPr>
        <p:spPr>
          <a:xfrm>
            <a:off x="10558300" y="5956137"/>
            <a:ext cx="1052510" cy="365125"/>
          </a:xfrm>
        </p:spPr>
        <p:txBody>
          <a:bodyPr/>
          <a:lstStyle>
            <a:lvl1pPr>
              <a:defRPr>
                <a:solidFill>
                  <a:srgbClr val="0E419C"/>
                </a:solidFill>
              </a:defRPr>
            </a:lvl1pPr>
          </a:lstStyle>
          <a:p>
            <a:fld id="{977BA8E6-E826-B147-AA17-E3D76A29629C}" type="slidenum">
              <a:rPr kumimoji="1" lang="zh-CN" altLang="en-US" smtClean="0"/>
              <a:pPr/>
              <a:t>‹Nº›</a:t>
            </a:fld>
            <a:endParaRPr kumimoji="1" lang="zh-CN" altLang="en-US"/>
          </a:p>
        </p:txBody>
      </p:sp>
      <p:pic>
        <p:nvPicPr>
          <p:cNvPr id="2" name="Picture 1" descr="A blue logo with text&#10;&#10;Description automatically generated">
            <a:extLst>
              <a:ext uri="{FF2B5EF4-FFF2-40B4-BE49-F238E27FC236}">
                <a16:creationId xmlns:a16="http://schemas.microsoft.com/office/drawing/2014/main" id="{8CDA1932-FF86-9959-AA74-EE3C443C8DE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758977" y="5283963"/>
            <a:ext cx="851830" cy="850410"/>
          </a:xfrm>
          <a:prstGeom prst="rect">
            <a:avLst/>
          </a:prstGeom>
        </p:spPr>
      </p:pic>
    </p:spTree>
    <p:extLst>
      <p:ext uri="{BB962C8B-B14F-4D97-AF65-F5344CB8AC3E}">
        <p14:creationId xmlns:p14="http://schemas.microsoft.com/office/powerpoint/2010/main" val="2282667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4"/>
            <a:ext cx="5422391"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88417" y="2228004"/>
            <a:ext cx="5422392"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2026/6/10</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‹Nº›</a:t>
            </a:fld>
            <a:endParaRPr kumimoji="1" lang="zh-CN" altLang="en-US"/>
          </a:p>
        </p:txBody>
      </p:sp>
      <p:sp>
        <p:nvSpPr>
          <p:cNvPr id="2" name="标题 1">
            <a:extLst>
              <a:ext uri="{FF2B5EF4-FFF2-40B4-BE49-F238E27FC236}">
                <a16:creationId xmlns:a16="http://schemas.microsoft.com/office/drawing/2014/main" id="{590C7D26-A2BB-CE43-BB2A-2808F22C4FD2}"/>
              </a:ext>
            </a:extLst>
          </p:cNvPr>
          <p:cNvSpPr>
            <a:spLocks noGrp="1"/>
          </p:cNvSpPr>
          <p:nvPr>
            <p:ph type="title"/>
          </p:nvPr>
        </p:nvSpPr>
        <p:spPr/>
        <p:txBody>
          <a:bodyPr/>
          <a:lstStyle/>
          <a:p>
            <a:r>
              <a:rPr kumimoji="1" lang="zh-CN" altLang="en-US" dirty="0"/>
              <a:t>单击此处编辑母版标题样式</a:t>
            </a:r>
          </a:p>
        </p:txBody>
      </p:sp>
    </p:spTree>
    <p:extLst>
      <p:ext uri="{BB962C8B-B14F-4D97-AF65-F5344CB8AC3E}">
        <p14:creationId xmlns:p14="http://schemas.microsoft.com/office/powerpoint/2010/main" val="4014618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rgbClr val="0E419C"/>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dirty="0"/>
              <a:t>单击此处编辑母版文本样式</a:t>
            </a:r>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rgbClr val="0E419C"/>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dirty="0"/>
              <a:t>单击此处编辑母版文本样式</a:t>
            </a:r>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4551058-E5DB-324A-A8E9-6D3BEF243C3B}" type="datetimeFigureOut">
              <a:rPr kumimoji="1" lang="zh-CN" altLang="en-US" smtClean="0"/>
              <a:t>2026/6/10</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77BA8E6-E826-B147-AA17-E3D76A29629C}" type="slidenum">
              <a:rPr kumimoji="1" lang="zh-CN" altLang="en-US" smtClean="0"/>
              <a:t>‹Nº›</a:t>
            </a:fld>
            <a:endParaRPr kumimoji="1" lang="zh-CN" altLang="en-US"/>
          </a:p>
        </p:txBody>
      </p:sp>
      <p:sp>
        <p:nvSpPr>
          <p:cNvPr id="2" name="标题 1">
            <a:extLst>
              <a:ext uri="{FF2B5EF4-FFF2-40B4-BE49-F238E27FC236}">
                <a16:creationId xmlns:a16="http://schemas.microsoft.com/office/drawing/2014/main" id="{395155F9-0BCA-F049-9D40-4CF28F90A407}"/>
              </a:ext>
            </a:extLst>
          </p:cNvPr>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3206004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4551058-E5DB-324A-A8E9-6D3BEF243C3B}" type="datetimeFigureOut">
              <a:rPr kumimoji="1" lang="zh-CN" altLang="en-US" smtClean="0"/>
              <a:t>2026/6/10</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77BA8E6-E826-B147-AA17-E3D76A29629C}" type="slidenum">
              <a:rPr kumimoji="1" lang="zh-CN" altLang="en-US" smtClean="0"/>
              <a:t>‹Nº›</a:t>
            </a:fld>
            <a:endParaRPr kumimoji="1" lang="zh-CN" altLang="en-US"/>
          </a:p>
        </p:txBody>
      </p:sp>
      <p:sp>
        <p:nvSpPr>
          <p:cNvPr id="2" name="标题 1">
            <a:extLst>
              <a:ext uri="{FF2B5EF4-FFF2-40B4-BE49-F238E27FC236}">
                <a16:creationId xmlns:a16="http://schemas.microsoft.com/office/drawing/2014/main" id="{DC31502A-7294-9848-AFF1-6116ACE1419B}"/>
              </a:ext>
            </a:extLst>
          </p:cNvPr>
          <p:cNvSpPr>
            <a:spLocks noGrp="1"/>
          </p:cNvSpPr>
          <p:nvPr>
            <p:ph type="title"/>
          </p:nvPr>
        </p:nvSpPr>
        <p:spPr/>
        <p:txBody>
          <a:bodyPr/>
          <a:lstStyle/>
          <a:p>
            <a:r>
              <a:rPr kumimoji="1" lang="zh-CN" altLang="en-US" dirty="0"/>
              <a:t>单击此处编辑母版标题样式</a:t>
            </a:r>
          </a:p>
        </p:txBody>
      </p:sp>
    </p:spTree>
    <p:extLst>
      <p:ext uri="{BB962C8B-B14F-4D97-AF65-F5344CB8AC3E}">
        <p14:creationId xmlns:p14="http://schemas.microsoft.com/office/powerpoint/2010/main" val="2857521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51058-E5DB-324A-A8E9-6D3BEF243C3B}" type="datetimeFigureOut">
              <a:rPr kumimoji="1" lang="zh-CN" altLang="en-US" smtClean="0"/>
              <a:t>2026/6/10</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77BA8E6-E826-B147-AA17-E3D76A29629C}" type="slidenum">
              <a:rPr kumimoji="1" lang="zh-CN" altLang="en-US" smtClean="0"/>
              <a:t>‹Nº›</a:t>
            </a:fld>
            <a:endParaRPr kumimoji="1" lang="zh-CN" altLang="en-US"/>
          </a:p>
        </p:txBody>
      </p:sp>
      <p:sp>
        <p:nvSpPr>
          <p:cNvPr id="8" name="Rectangle 8">
            <a:extLst>
              <a:ext uri="{FF2B5EF4-FFF2-40B4-BE49-F238E27FC236}">
                <a16:creationId xmlns:a16="http://schemas.microsoft.com/office/drawing/2014/main" id="{E5F10BF9-D5CD-1D48-BAAA-1C82ACBE3EEC}"/>
              </a:ext>
            </a:extLst>
          </p:cNvPr>
          <p:cNvSpPr/>
          <p:nvPr userDrawn="1"/>
        </p:nvSpPr>
        <p:spPr>
          <a:xfrm>
            <a:off x="8144933" y="436481"/>
            <a:ext cx="3657601" cy="72000"/>
          </a:xfrm>
          <a:prstGeom prst="rect">
            <a:avLst/>
          </a:prstGeom>
          <a:solidFill>
            <a:srgbClr val="0E419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591DCB4B-F7F0-EB42-A850-558FBD4EBF7E}"/>
              </a:ext>
            </a:extLst>
          </p:cNvPr>
          <p:cNvSpPr/>
          <p:nvPr userDrawn="1"/>
        </p:nvSpPr>
        <p:spPr>
          <a:xfrm>
            <a:off x="389467" y="436481"/>
            <a:ext cx="7687733"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89483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0" name="Rectangle 7">
            <a:extLst>
              <a:ext uri="{FF2B5EF4-FFF2-40B4-BE49-F238E27FC236}">
                <a16:creationId xmlns:a16="http://schemas.microsoft.com/office/drawing/2014/main" id="{DD0108F8-765A-DF43-9CAF-934132882EE3}"/>
              </a:ext>
            </a:extLst>
          </p:cNvPr>
          <p:cNvSpPr>
            <a:spLocks noChangeAspect="1"/>
          </p:cNvSpPr>
          <p:nvPr userDrawn="1"/>
        </p:nvSpPr>
        <p:spPr>
          <a:xfrm>
            <a:off x="447817" y="5141974"/>
            <a:ext cx="11290860" cy="1258827"/>
          </a:xfrm>
          <a:prstGeom prst="rect">
            <a:avLst/>
          </a:prstGeom>
          <a:solidFill>
            <a:srgbClr val="0E419C"/>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a:prstGeom prst="rect">
            <a:avLst/>
          </a:prstGeom>
        </p:spPr>
        <p:txBody>
          <a:bodyPr anchor="ctr">
            <a:normAutofit/>
          </a:bodyPr>
          <a:lstStyle>
            <a:lvl1pPr algn="l">
              <a:defRPr sz="2400" b="0">
                <a:solidFill>
                  <a:schemeClr val="bg1"/>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5740824" y="5262298"/>
            <a:ext cx="4708931" cy="689515"/>
          </a:xfrm>
        </p:spPr>
        <p:txBody>
          <a:bodyPr anchor="ctr">
            <a:normAutofit/>
          </a:bodyPr>
          <a:lstStyle>
            <a:lvl1pPr marL="0" indent="0" algn="r">
              <a:buNone/>
              <a:defRPr sz="1600">
                <a:solidFill>
                  <a:schemeClr val="bg1"/>
                </a:solidFill>
              </a:defRPr>
            </a:lvl1pPr>
            <a:lvl2pPr marL="457189" indent="0">
              <a:buNone/>
              <a:defRPr sz="11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lvl1pPr>
              <a:defRPr>
                <a:solidFill>
                  <a:srgbClr val="0E419C"/>
                </a:solidFill>
              </a:defRPr>
            </a:lvl1pPr>
          </a:lstStyle>
          <a:p>
            <a:fld id="{E4551058-E5DB-324A-A8E9-6D3BEF243C3B}" type="datetimeFigureOut">
              <a:rPr kumimoji="1" lang="zh-CN" altLang="en-US" smtClean="0"/>
              <a:pPr/>
              <a:t>2026/6/10</a:t>
            </a:fld>
            <a:endParaRPr kumimoji="1" lang="zh-CN" altLang="en-US"/>
          </a:p>
        </p:txBody>
      </p:sp>
      <p:sp>
        <p:nvSpPr>
          <p:cNvPr id="6" name="Footer Placeholder 5"/>
          <p:cNvSpPr>
            <a:spLocks noGrp="1"/>
          </p:cNvSpPr>
          <p:nvPr>
            <p:ph type="ftr" sz="quarter" idx="11"/>
          </p:nvPr>
        </p:nvSpPr>
        <p:spPr/>
        <p:txBody>
          <a:bodyPr/>
          <a:lstStyle>
            <a:lvl1pPr>
              <a:defRPr>
                <a:solidFill>
                  <a:srgbClr val="0E419C"/>
                </a:solidFill>
              </a:defRPr>
            </a:lvl1pPr>
          </a:lstStyle>
          <a:p>
            <a:endParaRPr kumimoji="1" lang="zh-CN" altLang="en-US"/>
          </a:p>
        </p:txBody>
      </p:sp>
      <p:sp>
        <p:nvSpPr>
          <p:cNvPr id="7" name="Slide Number Placeholder 6"/>
          <p:cNvSpPr>
            <a:spLocks noGrp="1"/>
          </p:cNvSpPr>
          <p:nvPr>
            <p:ph type="sldNum" sz="quarter" idx="12"/>
          </p:nvPr>
        </p:nvSpPr>
        <p:spPr/>
        <p:txBody>
          <a:bodyPr/>
          <a:lstStyle>
            <a:lvl1pPr>
              <a:defRPr>
                <a:solidFill>
                  <a:srgbClr val="0E419C"/>
                </a:solidFill>
              </a:defRPr>
            </a:lvl1pPr>
          </a:lstStyle>
          <a:p>
            <a:fld id="{977BA8E6-E826-B147-AA17-E3D76A29629C}" type="slidenum">
              <a:rPr kumimoji="1" lang="zh-CN" altLang="en-US" smtClean="0"/>
              <a:pPr/>
              <a:t>‹Nº›</a:t>
            </a:fld>
            <a:endParaRPr kumimoji="1" lang="zh-CN" altLang="en-US"/>
          </a:p>
        </p:txBody>
      </p:sp>
      <p:pic>
        <p:nvPicPr>
          <p:cNvPr id="8" name="Picture 7" descr="A blue logo with text&#10;&#10;Description automatically generated">
            <a:extLst>
              <a:ext uri="{FF2B5EF4-FFF2-40B4-BE49-F238E27FC236}">
                <a16:creationId xmlns:a16="http://schemas.microsoft.com/office/drawing/2014/main" id="{55D271AF-E338-58C7-3501-005DE5E3DC93}"/>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758977" y="5283963"/>
            <a:ext cx="851830" cy="850410"/>
          </a:xfrm>
          <a:prstGeom prst="rect">
            <a:avLst/>
          </a:prstGeom>
        </p:spPr>
      </p:pic>
    </p:spTree>
    <p:extLst>
      <p:ext uri="{BB962C8B-B14F-4D97-AF65-F5344CB8AC3E}">
        <p14:creationId xmlns:p14="http://schemas.microsoft.com/office/powerpoint/2010/main" val="70207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a:prstGeom prst="rect">
            <a:avLst/>
          </a:prstGeom>
        </p:spPr>
        <p:txBody>
          <a:bodyPr anchor="b">
            <a:normAutofit/>
          </a:bodyPr>
          <a:lstStyle>
            <a:lvl1pPr algn="l">
              <a:defRPr sz="2400" b="0">
                <a:solidFill>
                  <a:srgbClr val="0E419C"/>
                </a:solidFill>
              </a:defRPr>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5260129"/>
            <a:ext cx="11029617" cy="598671"/>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2026/6/10</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‹Nº›</a:t>
            </a:fld>
            <a:endParaRPr kumimoji="1" lang="zh-CN" altLang="en-US"/>
          </a:p>
        </p:txBody>
      </p:sp>
      <p:sp>
        <p:nvSpPr>
          <p:cNvPr id="9" name="Rectangle 8">
            <a:extLst>
              <a:ext uri="{FF2B5EF4-FFF2-40B4-BE49-F238E27FC236}">
                <a16:creationId xmlns:a16="http://schemas.microsoft.com/office/drawing/2014/main" id="{01F9AFCA-0D8E-7C4B-9EE4-15258FA226B6}"/>
              </a:ext>
            </a:extLst>
          </p:cNvPr>
          <p:cNvSpPr/>
          <p:nvPr userDrawn="1"/>
        </p:nvSpPr>
        <p:spPr>
          <a:xfrm>
            <a:off x="8144933" y="436481"/>
            <a:ext cx="3657601" cy="72000"/>
          </a:xfrm>
          <a:prstGeom prst="rect">
            <a:avLst/>
          </a:prstGeom>
          <a:solidFill>
            <a:srgbClr val="0E419C"/>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9C93E312-E758-E548-90FC-22E1E7EC6CCE}"/>
              </a:ext>
            </a:extLst>
          </p:cNvPr>
          <p:cNvSpPr/>
          <p:nvPr userDrawn="1"/>
        </p:nvSpPr>
        <p:spPr>
          <a:xfrm>
            <a:off x="389467" y="436481"/>
            <a:ext cx="7687733"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979797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2026/6/10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77BA8E6-E826-B147-AA17-E3D76A29629C}" type="slidenum">
              <a:rPr kumimoji="1" lang="zh-CN" altLang="en-US" smtClean="0"/>
              <a:t>‹Nº›</a:t>
            </a:fld>
            <a:endParaRPr kumimoji="1" lang="zh-CN" altLang="en-US"/>
          </a:p>
        </p:txBody>
      </p:sp>
      <p:sp>
        <p:nvSpPr>
          <p:cNvPr id="2" name="标题 1">
            <a:extLst>
              <a:ext uri="{FF2B5EF4-FFF2-40B4-BE49-F238E27FC236}">
                <a16:creationId xmlns:a16="http://schemas.microsoft.com/office/drawing/2014/main" id="{FD92ADC6-CE60-BE46-B46D-E72C08A66F9E}"/>
              </a:ext>
            </a:extLst>
          </p:cNvPr>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4227691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竖排标题与文本">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5BC0A53C-150C-A541-93A8-A5B4C7EFDD96}"/>
              </a:ext>
            </a:extLst>
          </p:cNvPr>
          <p:cNvSpPr>
            <a:spLocks noChangeAspect="1"/>
          </p:cNvSpPr>
          <p:nvPr userDrawn="1"/>
        </p:nvSpPr>
        <p:spPr>
          <a:xfrm>
            <a:off x="8839201" y="599725"/>
            <a:ext cx="2906817" cy="5816950"/>
          </a:xfrm>
          <a:prstGeom prst="rect">
            <a:avLst/>
          </a:prstGeom>
          <a:solidFill>
            <a:srgbClr val="0E419C"/>
          </a:solidFill>
          <a:ln>
            <a:noFill/>
          </a:ln>
          <a:effectLst/>
        </p:spPr>
        <p:style>
          <a:lnRef idx="1">
            <a:schemeClr val="accent1"/>
          </a:lnRef>
          <a:fillRef idx="3">
            <a:schemeClr val="accent1"/>
          </a:fillRef>
          <a:effectRef idx="2">
            <a:schemeClr val="accent1"/>
          </a:effectRef>
          <a:fontRef idx="minor">
            <a:schemeClr val="lt1"/>
          </a:fontRef>
        </p:style>
      </p:sp>
      <p:sp>
        <p:nvSpPr>
          <p:cNvPr id="12" name="Vertical Text Placeholder 2">
            <a:extLst>
              <a:ext uri="{FF2B5EF4-FFF2-40B4-BE49-F238E27FC236}">
                <a16:creationId xmlns:a16="http://schemas.microsoft.com/office/drawing/2014/main" id="{5F0B6C42-B8E7-1C45-A053-18F7FE5B2B9E}"/>
              </a:ext>
            </a:extLst>
          </p:cNvPr>
          <p:cNvSpPr>
            <a:spLocks noGrp="1"/>
          </p:cNvSpPr>
          <p:nvPr>
            <p:ph type="body" orient="vert" idx="1"/>
          </p:nvPr>
        </p:nvSpPr>
        <p:spPr>
          <a:xfrm>
            <a:off x="774923" y="675726"/>
            <a:ext cx="7896279" cy="5183073"/>
          </a:xfr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Date Placeholder 3">
            <a:extLst>
              <a:ext uri="{FF2B5EF4-FFF2-40B4-BE49-F238E27FC236}">
                <a16:creationId xmlns:a16="http://schemas.microsoft.com/office/drawing/2014/main" id="{9D8F7654-F738-DB4A-BDC9-C147359A8918}"/>
              </a:ext>
            </a:extLst>
          </p:cNvPr>
          <p:cNvSpPr>
            <a:spLocks noGrp="1"/>
          </p:cNvSpPr>
          <p:nvPr>
            <p:ph type="dt" sz="half" idx="10"/>
          </p:nvPr>
        </p:nvSpPr>
        <p:spPr>
          <a:xfrm>
            <a:off x="8993673" y="5956137"/>
            <a:ext cx="1328141" cy="365125"/>
          </a:xfrm>
        </p:spPr>
        <p:txBody>
          <a:bodyPr/>
          <a:lstStyle>
            <a:lvl1pPr>
              <a:defRPr>
                <a:solidFill>
                  <a:srgbClr val="0E419C"/>
                </a:solidFill>
              </a:defRPr>
            </a:lvl1pPr>
          </a:lstStyle>
          <a:p>
            <a:fld id="{E4551058-E5DB-324A-A8E9-6D3BEF243C3B}" type="datetimeFigureOut">
              <a:rPr kumimoji="1" lang="zh-CN" altLang="en-US" smtClean="0"/>
              <a:pPr/>
              <a:t>2026/6/10</a:t>
            </a:fld>
            <a:endParaRPr kumimoji="1" lang="zh-CN" altLang="en-US"/>
          </a:p>
        </p:txBody>
      </p:sp>
      <p:sp>
        <p:nvSpPr>
          <p:cNvPr id="14" name="Footer Placeholder 4">
            <a:extLst>
              <a:ext uri="{FF2B5EF4-FFF2-40B4-BE49-F238E27FC236}">
                <a16:creationId xmlns:a16="http://schemas.microsoft.com/office/drawing/2014/main" id="{A49875D8-CF05-584E-A606-B0C7A6C66F30}"/>
              </a:ext>
            </a:extLst>
          </p:cNvPr>
          <p:cNvSpPr>
            <a:spLocks noGrp="1"/>
          </p:cNvSpPr>
          <p:nvPr>
            <p:ph type="ftr" sz="quarter" idx="11"/>
          </p:nvPr>
        </p:nvSpPr>
        <p:spPr>
          <a:xfrm>
            <a:off x="774923" y="5951811"/>
            <a:ext cx="7896279" cy="365125"/>
          </a:xfrm>
        </p:spPr>
        <p:txBody>
          <a:bodyPr/>
          <a:lstStyle/>
          <a:p>
            <a:endParaRPr kumimoji="1" lang="zh-CN" altLang="en-US"/>
          </a:p>
        </p:txBody>
      </p:sp>
      <p:sp>
        <p:nvSpPr>
          <p:cNvPr id="15" name="Slide Number Placeholder 5">
            <a:extLst>
              <a:ext uri="{FF2B5EF4-FFF2-40B4-BE49-F238E27FC236}">
                <a16:creationId xmlns:a16="http://schemas.microsoft.com/office/drawing/2014/main" id="{4FDE4144-AE9C-764C-8F13-6FBD3DFFAD56}"/>
              </a:ext>
            </a:extLst>
          </p:cNvPr>
          <p:cNvSpPr>
            <a:spLocks noGrp="1"/>
          </p:cNvSpPr>
          <p:nvPr>
            <p:ph type="sldNum" sz="quarter" idx="12"/>
          </p:nvPr>
        </p:nvSpPr>
        <p:spPr>
          <a:xfrm>
            <a:off x="10446615" y="5956137"/>
            <a:ext cx="1164195" cy="365125"/>
          </a:xfrm>
        </p:spPr>
        <p:txBody>
          <a:bodyPr/>
          <a:lstStyle>
            <a:lvl1pPr>
              <a:defRPr>
                <a:solidFill>
                  <a:srgbClr val="0E419C"/>
                </a:solidFill>
              </a:defRPr>
            </a:lvl1pPr>
          </a:lstStyle>
          <a:p>
            <a:fld id="{977BA8E6-E826-B147-AA17-E3D76A29629C}" type="slidenum">
              <a:rPr kumimoji="1" lang="zh-CN" altLang="en-US" smtClean="0"/>
              <a:pPr/>
              <a:t>‹Nº›</a:t>
            </a:fld>
            <a:endParaRPr kumimoji="1" lang="zh-CN" altLang="en-US"/>
          </a:p>
        </p:txBody>
      </p:sp>
      <p:sp>
        <p:nvSpPr>
          <p:cNvPr id="11" name="Vertical Title 1">
            <a:extLst>
              <a:ext uri="{FF2B5EF4-FFF2-40B4-BE49-F238E27FC236}">
                <a16:creationId xmlns:a16="http://schemas.microsoft.com/office/drawing/2014/main" id="{9D3F700B-2D07-A448-9622-360F28D96C56}"/>
              </a:ext>
            </a:extLst>
          </p:cNvPr>
          <p:cNvSpPr>
            <a:spLocks noGrp="1"/>
          </p:cNvSpPr>
          <p:nvPr>
            <p:ph type="title" orient="vert"/>
          </p:nvPr>
        </p:nvSpPr>
        <p:spPr>
          <a:xfrm>
            <a:off x="8993673" y="675726"/>
            <a:ext cx="1849692" cy="5183073"/>
          </a:xfrm>
          <a:prstGeom prst="rect">
            <a:avLst/>
          </a:prstGeom>
        </p:spPr>
        <p:txBody>
          <a:bodyPr vert="eaVert" anchor="b"/>
          <a:lstStyle/>
          <a:p>
            <a:r>
              <a:rPr lang="zh-CN" altLang="en-US" dirty="0"/>
              <a:t>单击此处编辑母版标题样式</a:t>
            </a:r>
            <a:endParaRPr lang="en-US" dirty="0"/>
          </a:p>
        </p:txBody>
      </p:sp>
      <p:pic>
        <p:nvPicPr>
          <p:cNvPr id="2" name="Picture 1" descr="A blue logo with text&#10;&#10;Description automatically generated">
            <a:extLst>
              <a:ext uri="{FF2B5EF4-FFF2-40B4-BE49-F238E27FC236}">
                <a16:creationId xmlns:a16="http://schemas.microsoft.com/office/drawing/2014/main" id="{1E174F9A-83FB-418D-5341-57ECB9949599}"/>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758980" y="675726"/>
            <a:ext cx="851830" cy="850410"/>
          </a:xfrm>
          <a:prstGeom prst="rect">
            <a:avLst/>
          </a:prstGeom>
        </p:spPr>
      </p:pic>
    </p:spTree>
    <p:extLst>
      <p:ext uri="{BB962C8B-B14F-4D97-AF65-F5344CB8AC3E}">
        <p14:creationId xmlns:p14="http://schemas.microsoft.com/office/powerpoint/2010/main" val="2794944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D465EDF8-BCFD-134D-9B0D-9430B7390985}"/>
              </a:ext>
            </a:extLst>
          </p:cNvPr>
          <p:cNvSpPr>
            <a:spLocks noChangeAspect="1"/>
          </p:cNvSpPr>
          <p:nvPr userDrawn="1"/>
        </p:nvSpPr>
        <p:spPr>
          <a:xfrm>
            <a:off x="389467" y="347880"/>
            <a:ext cx="11413067" cy="1189298"/>
          </a:xfrm>
          <a:prstGeom prst="rect">
            <a:avLst/>
          </a:prstGeom>
          <a:solidFill>
            <a:srgbClr val="0E419C"/>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12" name="Rectangle 8">
            <a:extLst>
              <a:ext uri="{FF2B5EF4-FFF2-40B4-BE49-F238E27FC236}">
                <a16:creationId xmlns:a16="http://schemas.microsoft.com/office/drawing/2014/main" id="{EB4E09BB-6BE0-EA44-AA53-9AE037BE7450}"/>
              </a:ext>
            </a:extLst>
          </p:cNvPr>
          <p:cNvSpPr/>
          <p:nvPr userDrawn="1"/>
        </p:nvSpPr>
        <p:spPr>
          <a:xfrm>
            <a:off x="8144933" y="1592181"/>
            <a:ext cx="3657601" cy="72000"/>
          </a:xfrm>
          <a:prstGeom prst="rect">
            <a:avLst/>
          </a:prstGeom>
          <a:solidFill>
            <a:srgbClr val="0E419C"/>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13" name="Rectangle 9">
            <a:extLst>
              <a:ext uri="{FF2B5EF4-FFF2-40B4-BE49-F238E27FC236}">
                <a16:creationId xmlns:a16="http://schemas.microsoft.com/office/drawing/2014/main" id="{4F762D50-DB36-754B-B4EC-1EBF590E4A4F}"/>
              </a:ext>
            </a:extLst>
          </p:cNvPr>
          <p:cNvSpPr/>
          <p:nvPr userDrawn="1"/>
        </p:nvSpPr>
        <p:spPr>
          <a:xfrm>
            <a:off x="389467" y="1592181"/>
            <a:ext cx="7687733"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t">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rgbClr val="0E419C"/>
                </a:solidFill>
              </a:defRPr>
            </a:lvl1pPr>
          </a:lstStyle>
          <a:p>
            <a:fld id="{E4551058-E5DB-324A-A8E9-6D3BEF243C3B}" type="datetimeFigureOut">
              <a:rPr kumimoji="1" lang="zh-CN" altLang="en-US" smtClean="0"/>
              <a:pPr/>
              <a:t>2026/6/10</a:t>
            </a:fld>
            <a:endParaRPr kumimoji="1" lang="zh-CN" altLang="en-US"/>
          </a:p>
        </p:txBody>
      </p:sp>
      <p:sp>
        <p:nvSpPr>
          <p:cNvPr id="5"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rgbClr val="0E419C"/>
                </a:solidFill>
              </a:defRPr>
            </a:lvl1pPr>
          </a:lstStyle>
          <a:p>
            <a:endParaRPr kumimoji="1" lang="zh-CN" altLang="en-US"/>
          </a:p>
        </p:txBody>
      </p:sp>
      <p:sp>
        <p:nvSpPr>
          <p:cNvPr id="6"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rgbClr val="0E419C"/>
                </a:solidFill>
              </a:defRPr>
            </a:lvl1pPr>
          </a:lstStyle>
          <a:p>
            <a:fld id="{977BA8E6-E826-B147-AA17-E3D76A29629C}" type="slidenum">
              <a:rPr kumimoji="1" lang="zh-CN" altLang="en-US" smtClean="0"/>
              <a:pPr/>
              <a:t>‹Nº›</a:t>
            </a:fld>
            <a:endParaRPr kumimoji="1" lang="zh-CN" altLang="en-US"/>
          </a:p>
        </p:txBody>
      </p:sp>
      <p:sp>
        <p:nvSpPr>
          <p:cNvPr id="7" name="标题占位符 6">
            <a:extLst>
              <a:ext uri="{FF2B5EF4-FFF2-40B4-BE49-F238E27FC236}">
                <a16:creationId xmlns:a16="http://schemas.microsoft.com/office/drawing/2014/main" id="{386CB2C2-B0CA-6B4C-9D67-BC3A516A2E6A}"/>
              </a:ext>
            </a:extLst>
          </p:cNvPr>
          <p:cNvSpPr>
            <a:spLocks noGrp="1"/>
          </p:cNvSpPr>
          <p:nvPr>
            <p:ph type="title"/>
          </p:nvPr>
        </p:nvSpPr>
        <p:spPr>
          <a:xfrm>
            <a:off x="581192" y="434928"/>
            <a:ext cx="10119381" cy="1015200"/>
          </a:xfrm>
          <a:prstGeom prst="rect">
            <a:avLst/>
          </a:prstGeom>
        </p:spPr>
        <p:txBody>
          <a:bodyPr vert="horz" lIns="91440" tIns="45720" rIns="91440" bIns="45720" rtlCol="0" anchor="ctr">
            <a:normAutofit/>
          </a:bodyPr>
          <a:lstStyle/>
          <a:p>
            <a:r>
              <a:rPr kumimoji="1" lang="zh-CN" altLang="en-US" dirty="0"/>
              <a:t>单击此处编辑母版标题样式</a:t>
            </a:r>
          </a:p>
        </p:txBody>
      </p:sp>
      <p:pic>
        <p:nvPicPr>
          <p:cNvPr id="9" name="Picture 8" descr="A blue logo with text&#10;&#10;Description automatically generated">
            <a:extLst>
              <a:ext uri="{FF2B5EF4-FFF2-40B4-BE49-F238E27FC236}">
                <a16:creationId xmlns:a16="http://schemas.microsoft.com/office/drawing/2014/main" id="{3CB58A03-7542-0C65-86D6-94BAABE85CB2}"/>
              </a:ext>
            </a:extLst>
          </p:cNvPr>
          <p:cNvPicPr>
            <a:picLocks noChangeAspect="1"/>
          </p:cNvPicPr>
          <p:nvPr userDrawn="1"/>
        </p:nvPicPr>
        <p:blipFill>
          <a:blip r:embed="rId14">
            <a:extLst>
              <a:ext uri="{BEBA8EAE-BF5A-486C-A8C5-ECC9F3942E4B}">
                <a14:imgProps xmlns:a14="http://schemas.microsoft.com/office/drawing/2010/main">
                  <a14:imgLayer r:embed="rId15">
                    <a14:imgEffect>
                      <a14:brightnessContrast bright="100000"/>
                    </a14:imgEffect>
                  </a14:imgLayer>
                </a14:imgProps>
              </a:ext>
            </a:extLst>
          </a:blip>
          <a:stretch>
            <a:fillRect/>
          </a:stretch>
        </p:blipFill>
        <p:spPr>
          <a:xfrm>
            <a:off x="10743105" y="434920"/>
            <a:ext cx="1016896" cy="1015201"/>
          </a:xfrm>
          <a:prstGeom prst="rect">
            <a:avLst/>
          </a:prstGeom>
        </p:spPr>
      </p:pic>
    </p:spTree>
    <p:extLst>
      <p:ext uri="{BB962C8B-B14F-4D97-AF65-F5344CB8AC3E}">
        <p14:creationId xmlns:p14="http://schemas.microsoft.com/office/powerpoint/2010/main" val="144104772"/>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4" r:id="rId3"/>
    <p:sldLayoutId id="2147483865" r:id="rId4"/>
    <p:sldLayoutId id="2147483866" r:id="rId5"/>
    <p:sldLayoutId id="2147483868" r:id="rId6"/>
    <p:sldLayoutId id="2147483870" r:id="rId7"/>
    <p:sldLayoutId id="2147483871" r:id="rId8"/>
    <p:sldLayoutId id="2147483872" r:id="rId9"/>
    <p:sldLayoutId id="2147483873" r:id="rId10"/>
    <p:sldLayoutId id="2147483874" r:id="rId11"/>
    <p:sldLayoutId id="2147483875" r:id="rId12"/>
  </p:sldLayoutIdLst>
  <p:txStyles>
    <p:titleStyle>
      <a:lvl1pPr algn="l" defTabSz="457189" rtl="0" eaLnBrk="1" latinLnBrk="0" hangingPunct="1">
        <a:spcBef>
          <a:spcPct val="0"/>
        </a:spcBef>
        <a:buNone/>
        <a:defRPr sz="2800" b="0" kern="1200" cap="none"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5992" indent="-305992" algn="l" defTabSz="457189" rtl="0" eaLnBrk="1" latinLnBrk="0" hangingPunct="1">
        <a:spcBef>
          <a:spcPct val="20000"/>
        </a:spcBef>
        <a:spcAft>
          <a:spcPts val="600"/>
        </a:spcAft>
        <a:buClr>
          <a:srgbClr val="0E419C"/>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spcBef>
          <a:spcPct val="20000"/>
        </a:spcBef>
        <a:spcAft>
          <a:spcPts val="600"/>
        </a:spcAft>
        <a:buClr>
          <a:srgbClr val="0E419C"/>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spcBef>
          <a:spcPct val="20000"/>
        </a:spcBef>
        <a:spcAft>
          <a:spcPts val="600"/>
        </a:spcAft>
        <a:buClr>
          <a:srgbClr val="0E419C"/>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spcBef>
          <a:spcPct val="20000"/>
        </a:spcBef>
        <a:spcAft>
          <a:spcPts val="600"/>
        </a:spcAft>
        <a:buClr>
          <a:srgbClr val="0E419C"/>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spcBef>
          <a:spcPct val="20000"/>
        </a:spcBef>
        <a:spcAft>
          <a:spcPts val="600"/>
        </a:spcAft>
        <a:buClr>
          <a:srgbClr val="0E419C"/>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jiankliu/Spike-Image-Decoder"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github.com/yjkimnada/ns_decoding" TargetMode="External"/><Relationship Id="rId5" Type="http://schemas.openxmlformats.org/officeDocument/2006/relationships/hyperlink" Target="https://github.com/WYCAS/S2INet" TargetMode="External"/><Relationship Id="rId4" Type="http://schemas.openxmlformats.org/officeDocument/2006/relationships/hyperlink" Target="https://github.com/jiankliu/WISA"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6C87345F-7463-AEE3-E4FD-E250287238EC}"/>
              </a:ext>
            </a:extLst>
          </p:cNvPr>
          <p:cNvSpPr txBox="1">
            <a:spLocks/>
          </p:cNvSpPr>
          <p:nvPr/>
        </p:nvSpPr>
        <p:spPr>
          <a:xfrm>
            <a:off x="963167" y="2453692"/>
            <a:ext cx="10265664" cy="1325563"/>
          </a:xfrm>
          <a:prstGeom prst="rect">
            <a:avLst/>
          </a:prstGeom>
          <a:effectLst/>
        </p:spPr>
        <p:txBody>
          <a:bodyPr vert="horz" lIns="91440" tIns="45720" rIns="91440" bIns="45720" rtlCol="0" anchor="ctr">
            <a:normAutofit fontScale="97500"/>
          </a:bodyPr>
          <a:lstStyle>
            <a:lvl1pPr algn="ctr" defTabSz="457189" rtl="0" eaLnBrk="1" latinLnBrk="0" hangingPunct="1">
              <a:spcBef>
                <a:spcPct val="0"/>
              </a:spcBef>
              <a:buNone/>
              <a:defRPr lang="en-US" altLang="en-US" sz="3600" b="0" kern="1200" cap="none" baseline="0" dirty="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dirty="0"/>
              <a:t>脑机接口课程作业</a:t>
            </a:r>
            <a:endParaRPr lang="en-US" altLang="zh-CN" dirty="0"/>
          </a:p>
        </p:txBody>
      </p:sp>
    </p:spTree>
    <p:extLst>
      <p:ext uri="{BB962C8B-B14F-4D97-AF65-F5344CB8AC3E}">
        <p14:creationId xmlns:p14="http://schemas.microsoft.com/office/powerpoint/2010/main" val="1082544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419C8-ABD4-6339-B451-03B4C43DFB8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0EA1C83-1E1B-6F5A-9F06-47ED2531F74A}"/>
              </a:ext>
            </a:extLst>
          </p:cNvPr>
          <p:cNvSpPr>
            <a:spLocks noGrp="1"/>
          </p:cNvSpPr>
          <p:nvPr>
            <p:ph type="title"/>
          </p:nvPr>
        </p:nvSpPr>
        <p:spPr/>
        <p:txBody>
          <a:bodyPr/>
          <a:lstStyle/>
          <a:p>
            <a:r>
              <a:rPr kumimoji="1" lang="zh-CN" altLang="en-US" dirty="0"/>
              <a:t>作业要求</a:t>
            </a:r>
          </a:p>
        </p:txBody>
      </p:sp>
      <p:sp>
        <p:nvSpPr>
          <p:cNvPr id="8" name="内容占位符 2">
            <a:extLst>
              <a:ext uri="{FF2B5EF4-FFF2-40B4-BE49-F238E27FC236}">
                <a16:creationId xmlns:a16="http://schemas.microsoft.com/office/drawing/2014/main" id="{8E0D2D0D-3F3E-A851-A4AA-368F47E2B848}"/>
              </a:ext>
            </a:extLst>
          </p:cNvPr>
          <p:cNvSpPr>
            <a:spLocks noGrp="1"/>
          </p:cNvSpPr>
          <p:nvPr>
            <p:ph idx="1"/>
          </p:nvPr>
        </p:nvSpPr>
        <p:spPr>
          <a:xfrm>
            <a:off x="581191" y="1932340"/>
            <a:ext cx="11208732" cy="1015201"/>
          </a:xfrm>
        </p:spPr>
        <p:txBody>
          <a:bodyPr>
            <a:normAutofit/>
          </a:bodyPr>
          <a:lstStyle/>
          <a:p>
            <a:pPr marL="0" indent="0">
              <a:buNone/>
            </a:pPr>
            <a:r>
              <a:rPr lang="zh-CN" altLang="en-US" sz="2000" dirty="0"/>
              <a:t>任务：统一使用公开的视网膜 </a:t>
            </a:r>
            <a:r>
              <a:rPr lang="en" altLang="zh-CN" sz="2000" dirty="0"/>
              <a:t>spike </a:t>
            </a:r>
            <a:r>
              <a:rPr lang="zh-CN" altLang="en-US" sz="2000" dirty="0"/>
              <a:t>数据集，把神经元在观看自然电影时产生的脉冲序列作为输入，训练解码器预测对应的 </a:t>
            </a:r>
            <a:r>
              <a:rPr lang="en" altLang="zh-CN" sz="2000" dirty="0"/>
              <a:t>movie frame</a:t>
            </a:r>
            <a:r>
              <a:rPr lang="zh-CN" altLang="en" sz="2000" dirty="0"/>
              <a:t>。</a:t>
            </a:r>
          </a:p>
          <a:p>
            <a:pPr marL="0" indent="0">
              <a:buNone/>
            </a:pPr>
            <a:endParaRPr kumimoji="1" lang="zh-CN" altLang="en-US" sz="2000" dirty="0"/>
          </a:p>
        </p:txBody>
      </p:sp>
      <p:sp>
        <p:nvSpPr>
          <p:cNvPr id="11" name="内容占位符 2">
            <a:extLst>
              <a:ext uri="{FF2B5EF4-FFF2-40B4-BE49-F238E27FC236}">
                <a16:creationId xmlns:a16="http://schemas.microsoft.com/office/drawing/2014/main" id="{773A3414-A5FC-5910-791C-E6A5066D6913}"/>
              </a:ext>
            </a:extLst>
          </p:cNvPr>
          <p:cNvSpPr txBox="1">
            <a:spLocks/>
          </p:cNvSpPr>
          <p:nvPr/>
        </p:nvSpPr>
        <p:spPr>
          <a:xfrm>
            <a:off x="581191" y="2947541"/>
            <a:ext cx="4835764" cy="2699426"/>
          </a:xfrm>
          <a:prstGeom prst="rect">
            <a:avLst/>
          </a:prstGeom>
        </p:spPr>
        <p:txBody>
          <a:bodyPr vert="horz" lIns="91440" tIns="45720" rIns="91440" bIns="45720" rtlCol="0" anchor="t">
            <a:normAutofit/>
          </a:bodyPr>
          <a:lstStyle>
            <a:lvl1pPr marL="305992" indent="-305992" algn="l" defTabSz="457189" rtl="0" eaLnBrk="1" latinLnBrk="0" hangingPunct="1">
              <a:spcBef>
                <a:spcPct val="20000"/>
              </a:spcBef>
              <a:spcAft>
                <a:spcPts val="600"/>
              </a:spcAft>
              <a:buClr>
                <a:srgbClr val="0E419C"/>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spcBef>
                <a:spcPct val="20000"/>
              </a:spcBef>
              <a:spcAft>
                <a:spcPts val="600"/>
              </a:spcAft>
              <a:buClr>
                <a:srgbClr val="0E419C"/>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spcBef>
                <a:spcPct val="20000"/>
              </a:spcBef>
              <a:spcAft>
                <a:spcPts val="600"/>
              </a:spcAft>
              <a:buClr>
                <a:srgbClr val="0E419C"/>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spcBef>
                <a:spcPct val="20000"/>
              </a:spcBef>
              <a:spcAft>
                <a:spcPts val="600"/>
              </a:spcAft>
              <a:buClr>
                <a:srgbClr val="0E419C"/>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spcBef>
                <a:spcPct val="20000"/>
              </a:spcBef>
              <a:spcAft>
                <a:spcPts val="600"/>
              </a:spcAft>
              <a:buClr>
                <a:srgbClr val="0E419C"/>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sz="2000" dirty="0"/>
              <a:t>小组作业，建议每组 </a:t>
            </a:r>
            <a:r>
              <a:rPr lang="en-US" altLang="zh-CN" sz="2000" dirty="0"/>
              <a:t>4–5 </a:t>
            </a:r>
            <a:r>
              <a:rPr lang="zh-CN" altLang="en-US" sz="2000" dirty="0"/>
              <a:t>人。</a:t>
            </a:r>
          </a:p>
          <a:p>
            <a:r>
              <a:rPr lang="zh-CN" altLang="en-US" sz="2000" dirty="0"/>
              <a:t>每组选择一种</a:t>
            </a:r>
            <a:r>
              <a:rPr lang="en" altLang="zh-CN" sz="2000" dirty="0"/>
              <a:t>baseline</a:t>
            </a:r>
            <a:r>
              <a:rPr lang="zh-CN" altLang="en-US" sz="2000" dirty="0"/>
              <a:t>方法。</a:t>
            </a:r>
          </a:p>
          <a:p>
            <a:r>
              <a:rPr lang="zh-CN" altLang="en-US" sz="2000" dirty="0"/>
              <a:t>最终提交：</a:t>
            </a:r>
          </a:p>
          <a:p>
            <a:pPr lvl="1"/>
            <a:r>
              <a:rPr lang="zh-CN" altLang="en-US" sz="1800" dirty="0"/>
              <a:t>项目代码；</a:t>
            </a:r>
          </a:p>
          <a:p>
            <a:pPr lvl="1"/>
            <a:r>
              <a:rPr lang="zh-CN" altLang="en-US" sz="1800" dirty="0"/>
              <a:t>项目报告；</a:t>
            </a:r>
          </a:p>
          <a:p>
            <a:pPr lvl="1"/>
            <a:r>
              <a:rPr lang="zh-CN" altLang="en-US" sz="1800" dirty="0"/>
              <a:t>课堂汇报 </a:t>
            </a:r>
            <a:r>
              <a:rPr lang="en" altLang="zh-CN" sz="1800" dirty="0"/>
              <a:t>PPT</a:t>
            </a:r>
            <a:r>
              <a:rPr lang="zh-CN" altLang="en" sz="1800" dirty="0"/>
              <a:t>。</a:t>
            </a:r>
            <a:endParaRPr lang="en-US" altLang="zh-CN" sz="1800" dirty="0"/>
          </a:p>
          <a:p>
            <a:pPr lvl="1"/>
            <a:endParaRPr lang="en-US" altLang="zh-CN" sz="1800" dirty="0"/>
          </a:p>
          <a:p>
            <a:pPr lvl="1"/>
            <a:endParaRPr lang="en" altLang="zh-CN" sz="1800" dirty="0"/>
          </a:p>
        </p:txBody>
      </p:sp>
      <p:pic>
        <p:nvPicPr>
          <p:cNvPr id="2" name="图片 1">
            <a:extLst>
              <a:ext uri="{FF2B5EF4-FFF2-40B4-BE49-F238E27FC236}">
                <a16:creationId xmlns:a16="http://schemas.microsoft.com/office/drawing/2014/main" id="{BB693EFE-A0BC-F0C4-E2EA-0949594A08FF}"/>
              </a:ext>
            </a:extLst>
          </p:cNvPr>
          <p:cNvPicPr>
            <a:picLocks noChangeAspect="1"/>
          </p:cNvPicPr>
          <p:nvPr/>
        </p:nvPicPr>
        <p:blipFill>
          <a:blip r:embed="rId3"/>
          <a:stretch>
            <a:fillRect/>
          </a:stretch>
        </p:blipFill>
        <p:spPr>
          <a:xfrm>
            <a:off x="4958754" y="2672756"/>
            <a:ext cx="6831169" cy="2829647"/>
          </a:xfrm>
          <a:prstGeom prst="rect">
            <a:avLst/>
          </a:prstGeom>
        </p:spPr>
      </p:pic>
    </p:spTree>
    <p:extLst>
      <p:ext uri="{BB962C8B-B14F-4D97-AF65-F5344CB8AC3E}">
        <p14:creationId xmlns:p14="http://schemas.microsoft.com/office/powerpoint/2010/main" val="243390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DFDF6-DE07-6971-8923-B40B2FB8AF7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0FBC3A4-B466-7842-484E-C6ED6F1F070F}"/>
              </a:ext>
            </a:extLst>
          </p:cNvPr>
          <p:cNvSpPr>
            <a:spLocks noGrp="1"/>
          </p:cNvSpPr>
          <p:nvPr>
            <p:ph type="title"/>
          </p:nvPr>
        </p:nvSpPr>
        <p:spPr/>
        <p:txBody>
          <a:bodyPr/>
          <a:lstStyle/>
          <a:p>
            <a:r>
              <a:rPr kumimoji="1" lang="zh-CN" altLang="en-US" dirty="0"/>
              <a:t>数据</a:t>
            </a:r>
          </a:p>
        </p:txBody>
      </p:sp>
      <p:sp>
        <p:nvSpPr>
          <p:cNvPr id="18" name="Rectangle 11">
            <a:extLst>
              <a:ext uri="{FF2B5EF4-FFF2-40B4-BE49-F238E27FC236}">
                <a16:creationId xmlns:a16="http://schemas.microsoft.com/office/drawing/2014/main" id="{A0CA0CFF-4834-FCE6-B928-E20102B4CB1B}"/>
              </a:ext>
            </a:extLst>
          </p:cNvPr>
          <p:cNvSpPr>
            <a:spLocks noChangeArrowheads="1"/>
          </p:cNvSpPr>
          <p:nvPr/>
        </p:nvSpPr>
        <p:spPr bwMode="auto">
          <a:xfrm>
            <a:off x="416010" y="2159110"/>
            <a:ext cx="8451598" cy="1903004"/>
          </a:xfrm>
          <a:prstGeom prst="rect">
            <a:avLst/>
          </a:prstGeom>
        </p:spPr>
        <p:txBody>
          <a:bodyPr vert="horz" lIns="91440" tIns="45720" rIns="91440" bIns="45720" rtlCol="0" anchor="t">
            <a:normAutofit/>
          </a:bodyPr>
          <a:lstStyle/>
          <a:p>
            <a:pPr defTabSz="457189">
              <a:spcBef>
                <a:spcPct val="20000"/>
              </a:spcBef>
              <a:spcAft>
                <a:spcPts val="600"/>
              </a:spcAft>
              <a:buClr>
                <a:srgbClr val="0E419C"/>
              </a:buClr>
              <a:buSzPct val="92000"/>
              <a:buFont typeface="Wingdings 2" panose="05020102010507070707" pitchFamily="18" charset="2"/>
              <a:buNone/>
            </a:pPr>
            <a:r>
              <a:rPr lang="zh-CN" altLang="en-US" sz="2000" dirty="0">
                <a:solidFill>
                  <a:schemeClr val="tx2"/>
                </a:solidFill>
              </a:rPr>
              <a:t>统一使用</a:t>
            </a:r>
            <a:r>
              <a:rPr lang="zh-CN" altLang="zh-CN" sz="2000" dirty="0">
                <a:solidFill>
                  <a:schemeClr val="tx2"/>
                </a:solidFill>
              </a:rPr>
              <a:t>Dryad 视网膜 spike 数据，</a:t>
            </a:r>
            <a:r>
              <a:rPr lang="zh-CN" altLang="en-US" sz="2000" dirty="0">
                <a:solidFill>
                  <a:schemeClr val="tx2"/>
                </a:solidFill>
              </a:rPr>
              <a:t>数据</a:t>
            </a:r>
            <a:r>
              <a:rPr lang="zh-CN" altLang="zh-CN" sz="2000" dirty="0">
                <a:solidFill>
                  <a:schemeClr val="tx2"/>
                </a:solidFill>
              </a:rPr>
              <a:t>文件包括：</a:t>
            </a:r>
          </a:p>
          <a:p>
            <a:pPr defTabSz="457189">
              <a:spcBef>
                <a:spcPct val="20000"/>
              </a:spcBef>
              <a:spcAft>
                <a:spcPts val="600"/>
              </a:spcAft>
              <a:buClr>
                <a:srgbClr val="0E419C"/>
              </a:buClr>
              <a:buSzPct val="92000"/>
              <a:buFont typeface="Wingdings 2" panose="05020102010507070707" pitchFamily="18" charset="2"/>
              <a:buNone/>
            </a:pPr>
            <a:r>
              <a:rPr lang="zh-CN" altLang="zh-CN" sz="2000" dirty="0">
                <a:solidFill>
                  <a:schemeClr val="tx2">
                    <a:lumMod val="60000"/>
                    <a:lumOff val="40000"/>
                  </a:schemeClr>
                </a:solidFill>
              </a:rPr>
              <a:t>movieBinnedSpiking.mat：按时间 bin 整理好的 spike response；</a:t>
            </a:r>
          </a:p>
          <a:p>
            <a:pPr defTabSz="457189">
              <a:spcBef>
                <a:spcPct val="20000"/>
              </a:spcBef>
              <a:spcAft>
                <a:spcPts val="600"/>
              </a:spcAft>
              <a:buClr>
                <a:srgbClr val="0E419C"/>
              </a:buClr>
              <a:buSzPct val="92000"/>
              <a:buFont typeface="Wingdings 2" panose="05020102010507070707" pitchFamily="18" charset="2"/>
              <a:buNone/>
            </a:pPr>
            <a:r>
              <a:rPr lang="zh-CN" altLang="zh-CN" sz="2000" dirty="0">
                <a:solidFill>
                  <a:schemeClr val="tx2">
                    <a:lumMod val="60000"/>
                    <a:lumOff val="40000"/>
                  </a:schemeClr>
                </a:solidFill>
              </a:rPr>
              <a:t>MultipleMoviesStim_*.avi：自然电影刺激；</a:t>
            </a:r>
            <a:endParaRPr lang="en-US" altLang="zh-CN" sz="2000" dirty="0">
              <a:solidFill>
                <a:schemeClr val="tx2">
                  <a:lumMod val="60000"/>
                  <a:lumOff val="40000"/>
                </a:schemeClr>
              </a:solidFill>
            </a:endParaRPr>
          </a:p>
          <a:p>
            <a:pPr defTabSz="457189">
              <a:spcBef>
                <a:spcPct val="20000"/>
              </a:spcBef>
              <a:spcAft>
                <a:spcPts val="600"/>
              </a:spcAft>
              <a:buClr>
                <a:srgbClr val="0E419C"/>
              </a:buClr>
              <a:buSzPct val="92000"/>
              <a:buFont typeface="Wingdings 2" panose="05020102010507070707" pitchFamily="18" charset="2"/>
              <a:buNone/>
            </a:pPr>
            <a:endParaRPr lang="zh-CN" altLang="zh-CN" sz="2000" dirty="0">
              <a:solidFill>
                <a:schemeClr val="tx2"/>
              </a:solidFill>
            </a:endParaRPr>
          </a:p>
          <a:p>
            <a:pPr defTabSz="457189">
              <a:spcBef>
                <a:spcPct val="20000"/>
              </a:spcBef>
              <a:spcAft>
                <a:spcPts val="600"/>
              </a:spcAft>
              <a:buClr>
                <a:srgbClr val="0E419C"/>
              </a:buClr>
              <a:buSzPct val="92000"/>
              <a:buFont typeface="Wingdings 2" panose="05020102010507070707" pitchFamily="18" charset="2"/>
              <a:buNone/>
            </a:pPr>
            <a:endParaRPr lang="zh-CN" altLang="zh-CN" sz="2000" dirty="0">
              <a:solidFill>
                <a:schemeClr val="tx2"/>
              </a:solidFill>
            </a:endParaRPr>
          </a:p>
        </p:txBody>
      </p:sp>
      <p:sp>
        <p:nvSpPr>
          <p:cNvPr id="22" name="Rectangle 15">
            <a:extLst>
              <a:ext uri="{FF2B5EF4-FFF2-40B4-BE49-F238E27FC236}">
                <a16:creationId xmlns:a16="http://schemas.microsoft.com/office/drawing/2014/main" id="{D1FB974F-2453-8202-634B-E35601D70D7E}"/>
              </a:ext>
            </a:extLst>
          </p:cNvPr>
          <p:cNvSpPr>
            <a:spLocks noChangeArrowheads="1"/>
          </p:cNvSpPr>
          <p:nvPr/>
        </p:nvSpPr>
        <p:spPr bwMode="auto">
          <a:xfrm>
            <a:off x="7419853" y="1815704"/>
            <a:ext cx="6561439" cy="1662540"/>
          </a:xfrm>
          <a:prstGeom prst="rect">
            <a:avLst/>
          </a:prstGeom>
        </p:spPr>
        <p:txBody>
          <a:bodyPr vert="horz" lIns="91440" tIns="45720" rIns="91440" bIns="45720" rtlCol="0" anchor="t">
            <a:normAutofit fontScale="85000" lnSpcReduction="20000"/>
          </a:bodyPr>
          <a:lstStyle/>
          <a:p>
            <a:pPr defTabSz="457189">
              <a:spcBef>
                <a:spcPct val="20000"/>
              </a:spcBef>
              <a:spcAft>
                <a:spcPts val="600"/>
              </a:spcAft>
              <a:buClr>
                <a:srgbClr val="0E419C"/>
              </a:buClr>
              <a:buSzPct val="92000"/>
              <a:buFont typeface="Wingdings 2" panose="05020102010507070707" pitchFamily="18" charset="2"/>
              <a:buNone/>
            </a:pPr>
            <a:r>
              <a:rPr lang="zh-CN" altLang="en" sz="2000" dirty="0">
                <a:solidFill>
                  <a:schemeClr val="tx2"/>
                </a:solidFill>
              </a:rPr>
              <a:t>数据</a:t>
            </a:r>
            <a:r>
              <a:rPr lang="zh-CN" altLang="en-US" sz="2000" dirty="0">
                <a:solidFill>
                  <a:schemeClr val="tx2"/>
                </a:solidFill>
              </a:rPr>
              <a:t>维度信息：</a:t>
            </a:r>
            <a:endParaRPr lang="en" altLang="zh-CN" sz="2000" dirty="0">
              <a:solidFill>
                <a:schemeClr val="tx2"/>
              </a:solidFill>
            </a:endParaRPr>
          </a:p>
          <a:p>
            <a:pPr defTabSz="457189">
              <a:spcBef>
                <a:spcPct val="20000"/>
              </a:spcBef>
              <a:spcAft>
                <a:spcPts val="600"/>
              </a:spcAft>
              <a:buClr>
                <a:srgbClr val="0E419C"/>
              </a:buClr>
              <a:buSzPct val="92000"/>
              <a:buFont typeface="Wingdings 2" panose="05020102010507070707" pitchFamily="18" charset="2"/>
              <a:buNone/>
            </a:pPr>
            <a:r>
              <a:rPr lang="en" altLang="zh-CN" sz="2000" dirty="0">
                <a:solidFill>
                  <a:schemeClr val="tx2"/>
                </a:solidFill>
              </a:rPr>
              <a:t>r</a:t>
            </a:r>
            <a:r>
              <a:rPr lang="zh-CN" altLang="zh-CN" sz="2000" dirty="0">
                <a:solidFill>
                  <a:schemeClr val="tx2"/>
                </a:solidFill>
              </a:rPr>
              <a:t>epeat</a:t>
            </a:r>
            <a:r>
              <a:rPr lang="en-US" altLang="zh-CN" sz="2000" dirty="0">
                <a:solidFill>
                  <a:schemeClr val="tx2"/>
                </a:solidFill>
              </a:rPr>
              <a:t>: </a:t>
            </a:r>
            <a:r>
              <a:rPr lang="zh-CN" altLang="zh-CN" sz="2000" dirty="0">
                <a:solidFill>
                  <a:schemeClr val="tx2"/>
                </a:solidFill>
              </a:rPr>
              <a:t>同一个 movie 被重复播放多次</a:t>
            </a:r>
            <a:endParaRPr lang="en-US" altLang="zh-CN" sz="2000" dirty="0">
              <a:solidFill>
                <a:schemeClr val="tx2"/>
              </a:solidFill>
            </a:endParaRPr>
          </a:p>
          <a:p>
            <a:pPr defTabSz="457189">
              <a:spcBef>
                <a:spcPct val="20000"/>
              </a:spcBef>
              <a:spcAft>
                <a:spcPts val="600"/>
              </a:spcAft>
              <a:buClr>
                <a:srgbClr val="0E419C"/>
              </a:buClr>
              <a:buSzPct val="92000"/>
              <a:buFont typeface="Wingdings 2" panose="05020102010507070707" pitchFamily="18" charset="2"/>
              <a:buNone/>
            </a:pPr>
            <a:r>
              <a:rPr lang="zh-CN" altLang="zh-CN" sz="2000" dirty="0">
                <a:solidFill>
                  <a:schemeClr val="tx2"/>
                </a:solidFill>
              </a:rPr>
              <a:t>time bin</a:t>
            </a:r>
            <a:r>
              <a:rPr lang="en-US" altLang="zh-CN" sz="2000" dirty="0">
                <a:solidFill>
                  <a:schemeClr val="tx2"/>
                </a:solidFill>
              </a:rPr>
              <a:t>s: </a:t>
            </a:r>
            <a:r>
              <a:rPr lang="zh-CN" altLang="zh-CN" sz="2000" dirty="0">
                <a:solidFill>
                  <a:schemeClr val="tx2"/>
                </a:solidFill>
              </a:rPr>
              <a:t>离散时间</a:t>
            </a:r>
            <a:endParaRPr lang="en-US" altLang="zh-CN" sz="2000" dirty="0">
              <a:solidFill>
                <a:schemeClr val="tx2"/>
              </a:solidFill>
            </a:endParaRPr>
          </a:p>
          <a:p>
            <a:pPr defTabSz="457189">
              <a:spcBef>
                <a:spcPct val="20000"/>
              </a:spcBef>
              <a:spcAft>
                <a:spcPts val="600"/>
              </a:spcAft>
              <a:buClr>
                <a:srgbClr val="0E419C"/>
              </a:buClr>
              <a:buSzPct val="92000"/>
              <a:buFont typeface="Wingdings 2" panose="05020102010507070707" pitchFamily="18" charset="2"/>
              <a:buNone/>
            </a:pPr>
            <a:r>
              <a:rPr lang="en" altLang="zh-CN" sz="2000" dirty="0">
                <a:solidFill>
                  <a:schemeClr val="tx2"/>
                </a:solidFill>
              </a:rPr>
              <a:t>n</a:t>
            </a:r>
            <a:r>
              <a:rPr lang="zh-CN" altLang="zh-CN" sz="2000" dirty="0">
                <a:solidFill>
                  <a:schemeClr val="tx2"/>
                </a:solidFill>
              </a:rPr>
              <a:t>euron</a:t>
            </a:r>
            <a:r>
              <a:rPr lang="en-US" altLang="zh-CN" sz="2000" dirty="0">
                <a:solidFill>
                  <a:schemeClr val="tx2"/>
                </a:solidFill>
              </a:rPr>
              <a:t>s: </a:t>
            </a:r>
            <a:r>
              <a:rPr lang="zh-CN" altLang="zh-CN" sz="2000" dirty="0">
                <a:solidFill>
                  <a:schemeClr val="tx2"/>
                </a:solidFill>
              </a:rPr>
              <a:t>不同神经元</a:t>
            </a:r>
            <a:endParaRPr lang="en-US" altLang="zh-CN" sz="2000" dirty="0">
              <a:solidFill>
                <a:schemeClr val="tx2"/>
              </a:solidFill>
            </a:endParaRPr>
          </a:p>
          <a:p>
            <a:pPr defTabSz="457189">
              <a:spcBef>
                <a:spcPct val="20000"/>
              </a:spcBef>
              <a:spcAft>
                <a:spcPts val="600"/>
              </a:spcAft>
              <a:buClr>
                <a:srgbClr val="0E419C"/>
              </a:buClr>
              <a:buSzPct val="92000"/>
              <a:buFont typeface="Wingdings 2" panose="05020102010507070707" pitchFamily="18" charset="2"/>
              <a:buNone/>
            </a:pPr>
            <a:r>
              <a:rPr lang="en" altLang="zh-CN" sz="2000" dirty="0">
                <a:solidFill>
                  <a:schemeClr val="tx2"/>
                </a:solidFill>
              </a:rPr>
              <a:t>m</a:t>
            </a:r>
            <a:r>
              <a:rPr lang="zh-CN" altLang="zh-CN" sz="2000" dirty="0">
                <a:solidFill>
                  <a:schemeClr val="tx2"/>
                </a:solidFill>
              </a:rPr>
              <a:t>ovie</a:t>
            </a:r>
            <a:r>
              <a:rPr lang="en-US" altLang="zh-CN" sz="2000" dirty="0">
                <a:solidFill>
                  <a:schemeClr val="tx2"/>
                </a:solidFill>
              </a:rPr>
              <a:t>:</a:t>
            </a:r>
            <a:r>
              <a:rPr lang="zh-CN" altLang="zh-CN" sz="2000" dirty="0">
                <a:solidFill>
                  <a:schemeClr val="tx2"/>
                </a:solidFill>
              </a:rPr>
              <a:t>表示不同自然电影刺激</a:t>
            </a:r>
          </a:p>
        </p:txBody>
      </p:sp>
      <p:sp>
        <p:nvSpPr>
          <p:cNvPr id="23" name="Rectangle 16">
            <a:extLst>
              <a:ext uri="{FF2B5EF4-FFF2-40B4-BE49-F238E27FC236}">
                <a16:creationId xmlns:a16="http://schemas.microsoft.com/office/drawing/2014/main" id="{9EF23798-128C-125F-79DA-76777BEBD47F}"/>
              </a:ext>
            </a:extLst>
          </p:cNvPr>
          <p:cNvSpPr>
            <a:spLocks noChangeArrowheads="1"/>
          </p:cNvSpPr>
          <p:nvPr/>
        </p:nvSpPr>
        <p:spPr bwMode="auto">
          <a:xfrm>
            <a:off x="3911341" y="3646056"/>
            <a:ext cx="4250527" cy="3313909"/>
          </a:xfrm>
          <a:prstGeom prst="rect">
            <a:avLst/>
          </a:prstGeom>
        </p:spPr>
        <p:txBody>
          <a:bodyPr vert="horz" lIns="91440" tIns="45720" rIns="91440" bIns="45720" rtlCol="0" anchor="t">
            <a:normAutofit/>
          </a:bodyPr>
          <a:lstStyle/>
          <a:p>
            <a:pPr marL="285750" indent="-285750" defTabSz="457189">
              <a:spcBef>
                <a:spcPct val="20000"/>
              </a:spcBef>
              <a:spcAft>
                <a:spcPts val="600"/>
              </a:spcAft>
              <a:buClr>
                <a:srgbClr val="0E419C"/>
              </a:buClr>
              <a:buSzPct val="92000"/>
              <a:buFontTx/>
              <a:buChar char="-"/>
            </a:pPr>
            <a:r>
              <a:rPr lang="zh-CN" altLang="zh-CN" dirty="0">
                <a:solidFill>
                  <a:srgbClr val="C00000"/>
                </a:solidFill>
              </a:rPr>
              <a:t>single trial response</a:t>
            </a:r>
            <a:r>
              <a:rPr lang="zh-CN" altLang="zh-CN" dirty="0">
                <a:solidFill>
                  <a:schemeClr val="tx2"/>
                </a:solidFill>
              </a:rPr>
              <a:t>，保留每一次重复播放，所以 shape 是 [</a:t>
            </a:r>
            <a:r>
              <a:rPr lang="zh-CN" altLang="zh-CN" dirty="0">
                <a:solidFill>
                  <a:srgbClr val="C00000"/>
                </a:solidFill>
              </a:rPr>
              <a:t>repeats</a:t>
            </a:r>
            <a:r>
              <a:rPr lang="zh-CN" altLang="zh-CN" dirty="0">
                <a:solidFill>
                  <a:schemeClr val="tx2"/>
                </a:solidFill>
              </a:rPr>
              <a:t>, time_bins, neurons]。它更接近真实单次神经活动，但噪声更大。</a:t>
            </a:r>
            <a:endParaRPr lang="en-US" altLang="zh-CN" dirty="0">
              <a:solidFill>
                <a:schemeClr val="tx2"/>
              </a:solidFill>
            </a:endParaRPr>
          </a:p>
          <a:p>
            <a:pPr defTabSz="457189">
              <a:spcBef>
                <a:spcPct val="20000"/>
              </a:spcBef>
              <a:spcAft>
                <a:spcPts val="600"/>
              </a:spcAft>
              <a:buClr>
                <a:srgbClr val="0E419C"/>
              </a:buClr>
              <a:buSzPct val="92000"/>
            </a:pPr>
            <a:endParaRPr lang="en-US" altLang="zh-CN" dirty="0">
              <a:solidFill>
                <a:schemeClr val="tx2"/>
              </a:solidFill>
            </a:endParaRPr>
          </a:p>
          <a:p>
            <a:pPr marL="285750" indent="-285750" defTabSz="457189">
              <a:spcBef>
                <a:spcPct val="20000"/>
              </a:spcBef>
              <a:spcAft>
                <a:spcPts val="600"/>
              </a:spcAft>
              <a:buClr>
                <a:srgbClr val="0E419C"/>
              </a:buClr>
              <a:buSzPct val="92000"/>
              <a:buFontTx/>
              <a:buChar char="-"/>
            </a:pPr>
            <a:r>
              <a:rPr lang="zh-CN" altLang="zh-CN" dirty="0">
                <a:solidFill>
                  <a:srgbClr val="C00000"/>
                </a:solidFill>
              </a:rPr>
              <a:t>PSTH</a:t>
            </a:r>
            <a:r>
              <a:rPr lang="zh-CN" altLang="zh-CN" dirty="0">
                <a:solidFill>
                  <a:schemeClr val="tx2"/>
                </a:solidFill>
              </a:rPr>
              <a:t>，也叫 trial-averaged response，就是沿 repeats 维度求平均，shape 变成 [time_bins, neurons]。它更平滑、更稳定，但它不再代表某一次真实 trial，而是重复试次的平均响应。</a:t>
            </a:r>
          </a:p>
        </p:txBody>
      </p:sp>
      <p:sp>
        <p:nvSpPr>
          <p:cNvPr id="4" name="文本框 3">
            <a:extLst>
              <a:ext uri="{FF2B5EF4-FFF2-40B4-BE49-F238E27FC236}">
                <a16:creationId xmlns:a16="http://schemas.microsoft.com/office/drawing/2014/main" id="{6748E456-CAA5-D61D-7643-F5DBF04D56E4}"/>
              </a:ext>
            </a:extLst>
          </p:cNvPr>
          <p:cNvSpPr txBox="1"/>
          <p:nvPr/>
        </p:nvSpPr>
        <p:spPr>
          <a:xfrm>
            <a:off x="416010" y="1746812"/>
            <a:ext cx="6096000" cy="369332"/>
          </a:xfrm>
          <a:prstGeom prst="rect">
            <a:avLst/>
          </a:prstGeom>
          <a:noFill/>
        </p:spPr>
        <p:txBody>
          <a:bodyPr wrap="square">
            <a:spAutoFit/>
          </a:bodyPr>
          <a:lstStyle/>
          <a:p>
            <a:r>
              <a:rPr lang="zh-CN" altLang="en-US" dirty="0"/>
              <a:t>https://datadryad.org/dataset/doi:10.5061/dryad.4qrfj6qm8</a:t>
            </a:r>
          </a:p>
        </p:txBody>
      </p:sp>
      <p:sp>
        <p:nvSpPr>
          <p:cNvPr id="6" name="文本框 5">
            <a:extLst>
              <a:ext uri="{FF2B5EF4-FFF2-40B4-BE49-F238E27FC236}">
                <a16:creationId xmlns:a16="http://schemas.microsoft.com/office/drawing/2014/main" id="{0697298F-D7BB-8023-D225-DF0439977CE3}"/>
              </a:ext>
            </a:extLst>
          </p:cNvPr>
          <p:cNvSpPr txBox="1"/>
          <p:nvPr/>
        </p:nvSpPr>
        <p:spPr>
          <a:xfrm>
            <a:off x="416010" y="3687991"/>
            <a:ext cx="3378200" cy="923330"/>
          </a:xfrm>
          <a:prstGeom prst="rect">
            <a:avLst/>
          </a:prstGeom>
          <a:noFill/>
        </p:spPr>
        <p:txBody>
          <a:bodyPr wrap="square">
            <a:spAutoFit/>
          </a:bodyPr>
          <a:lstStyle/>
          <a:p>
            <a:r>
              <a:rPr lang="en-US" altLang="zh-CN" dirty="0"/>
              <a:t>spike train:</a:t>
            </a:r>
          </a:p>
          <a:p>
            <a:r>
              <a:rPr lang="zh-CN" altLang="en-US" dirty="0"/>
              <a:t>neuron 0: 0.013s, 0.081s, 0.145s, ...</a:t>
            </a:r>
          </a:p>
          <a:p>
            <a:r>
              <a:rPr lang="zh-CN" altLang="en-US" dirty="0"/>
              <a:t>neuron 1: 0.020s, 0.052s, ...</a:t>
            </a:r>
          </a:p>
        </p:txBody>
      </p:sp>
      <p:pic>
        <p:nvPicPr>
          <p:cNvPr id="7" name="图片 6">
            <a:extLst>
              <a:ext uri="{FF2B5EF4-FFF2-40B4-BE49-F238E27FC236}">
                <a16:creationId xmlns:a16="http://schemas.microsoft.com/office/drawing/2014/main" id="{3248F401-B849-08B6-706C-A031967A3E6C}"/>
              </a:ext>
            </a:extLst>
          </p:cNvPr>
          <p:cNvPicPr>
            <a:picLocks noChangeAspect="1"/>
          </p:cNvPicPr>
          <p:nvPr/>
        </p:nvPicPr>
        <p:blipFill>
          <a:blip r:embed="rId3"/>
          <a:stretch>
            <a:fillRect/>
          </a:stretch>
        </p:blipFill>
        <p:spPr>
          <a:xfrm>
            <a:off x="416010" y="4695227"/>
            <a:ext cx="3378200" cy="1215566"/>
          </a:xfrm>
          <a:prstGeom prst="rect">
            <a:avLst/>
          </a:prstGeom>
        </p:spPr>
      </p:pic>
      <p:pic>
        <p:nvPicPr>
          <p:cNvPr id="8" name="图片 7">
            <a:extLst>
              <a:ext uri="{FF2B5EF4-FFF2-40B4-BE49-F238E27FC236}">
                <a16:creationId xmlns:a16="http://schemas.microsoft.com/office/drawing/2014/main" id="{D4FE5842-A020-7603-A132-5A3C0AEB9106}"/>
              </a:ext>
            </a:extLst>
          </p:cNvPr>
          <p:cNvPicPr>
            <a:picLocks noChangeAspect="1"/>
          </p:cNvPicPr>
          <p:nvPr/>
        </p:nvPicPr>
        <p:blipFill>
          <a:blip r:embed="rId4"/>
          <a:stretch>
            <a:fillRect/>
          </a:stretch>
        </p:blipFill>
        <p:spPr>
          <a:xfrm>
            <a:off x="8161868" y="3679490"/>
            <a:ext cx="3843866" cy="1694608"/>
          </a:xfrm>
          <a:prstGeom prst="rect">
            <a:avLst/>
          </a:prstGeom>
        </p:spPr>
      </p:pic>
      <p:pic>
        <p:nvPicPr>
          <p:cNvPr id="9" name="图片 8">
            <a:extLst>
              <a:ext uri="{FF2B5EF4-FFF2-40B4-BE49-F238E27FC236}">
                <a16:creationId xmlns:a16="http://schemas.microsoft.com/office/drawing/2014/main" id="{D4DAC17E-A6CD-67AC-D224-8BD07296DB48}"/>
              </a:ext>
            </a:extLst>
          </p:cNvPr>
          <p:cNvPicPr>
            <a:picLocks noChangeAspect="1"/>
          </p:cNvPicPr>
          <p:nvPr/>
        </p:nvPicPr>
        <p:blipFill>
          <a:blip r:embed="rId5"/>
          <a:stretch>
            <a:fillRect/>
          </a:stretch>
        </p:blipFill>
        <p:spPr>
          <a:xfrm>
            <a:off x="8161868" y="5374098"/>
            <a:ext cx="3843866" cy="1399668"/>
          </a:xfrm>
          <a:prstGeom prst="rect">
            <a:avLst/>
          </a:prstGeom>
        </p:spPr>
      </p:pic>
    </p:spTree>
    <p:extLst>
      <p:ext uri="{BB962C8B-B14F-4D97-AF65-F5344CB8AC3E}">
        <p14:creationId xmlns:p14="http://schemas.microsoft.com/office/powerpoint/2010/main" val="554543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831A5-5550-029A-2670-03FF4B4141F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DECC447-7A3B-1A9D-1CEA-C508A37B5D47}"/>
              </a:ext>
            </a:extLst>
          </p:cNvPr>
          <p:cNvSpPr>
            <a:spLocks noGrp="1"/>
          </p:cNvSpPr>
          <p:nvPr>
            <p:ph type="title"/>
          </p:nvPr>
        </p:nvSpPr>
        <p:spPr/>
        <p:txBody>
          <a:bodyPr/>
          <a:lstStyle/>
          <a:p>
            <a:r>
              <a:rPr kumimoji="1" lang="zh-CN" altLang="en-US" dirty="0"/>
              <a:t>模型</a:t>
            </a:r>
          </a:p>
        </p:txBody>
      </p:sp>
      <p:sp>
        <p:nvSpPr>
          <p:cNvPr id="5" name="内容占位符 2">
            <a:extLst>
              <a:ext uri="{FF2B5EF4-FFF2-40B4-BE49-F238E27FC236}">
                <a16:creationId xmlns:a16="http://schemas.microsoft.com/office/drawing/2014/main" id="{6040C83E-5C74-ECAD-91D5-5D6C8811C4E1}"/>
              </a:ext>
            </a:extLst>
          </p:cNvPr>
          <p:cNvSpPr txBox="1">
            <a:spLocks/>
          </p:cNvSpPr>
          <p:nvPr/>
        </p:nvSpPr>
        <p:spPr>
          <a:xfrm>
            <a:off x="581192" y="1758890"/>
            <a:ext cx="4835764" cy="922053"/>
          </a:xfrm>
          <a:prstGeom prst="rect">
            <a:avLst/>
          </a:prstGeom>
        </p:spPr>
        <p:txBody>
          <a:bodyPr vert="horz" lIns="91440" tIns="45720" rIns="91440" bIns="45720" rtlCol="0" anchor="t">
            <a:normAutofit/>
          </a:bodyPr>
          <a:lstStyle>
            <a:lvl1pPr marL="305992" indent="-305992" algn="l" defTabSz="457189" rtl="0" eaLnBrk="1" latinLnBrk="0" hangingPunct="1">
              <a:spcBef>
                <a:spcPct val="20000"/>
              </a:spcBef>
              <a:spcAft>
                <a:spcPts val="600"/>
              </a:spcAft>
              <a:buClr>
                <a:srgbClr val="0E419C"/>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spcBef>
                <a:spcPct val="20000"/>
              </a:spcBef>
              <a:spcAft>
                <a:spcPts val="600"/>
              </a:spcAft>
              <a:buClr>
                <a:srgbClr val="0E419C"/>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spcBef>
                <a:spcPct val="20000"/>
              </a:spcBef>
              <a:spcAft>
                <a:spcPts val="600"/>
              </a:spcAft>
              <a:buClr>
                <a:srgbClr val="0E419C"/>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spcBef>
                <a:spcPct val="20000"/>
              </a:spcBef>
              <a:spcAft>
                <a:spcPts val="600"/>
              </a:spcAft>
              <a:buClr>
                <a:srgbClr val="0E419C"/>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spcBef>
                <a:spcPct val="20000"/>
              </a:spcBef>
              <a:spcAft>
                <a:spcPts val="600"/>
              </a:spcAft>
              <a:buClr>
                <a:srgbClr val="0E419C"/>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sz="2000" dirty="0"/>
              <a:t>基础：</a:t>
            </a:r>
            <a:r>
              <a:rPr lang="en-US" altLang="zh-CN" sz="2000" dirty="0"/>
              <a:t>Linear</a:t>
            </a:r>
            <a:r>
              <a:rPr lang="zh-CN" altLang="en-US" sz="2000" dirty="0"/>
              <a:t> </a:t>
            </a:r>
            <a:r>
              <a:rPr lang="en-US" altLang="zh-CN" sz="2000" dirty="0"/>
              <a:t>decoder</a:t>
            </a:r>
            <a:endParaRPr lang="zh-CN" altLang="en-US" sz="2000" dirty="0"/>
          </a:p>
          <a:p>
            <a:r>
              <a:rPr lang="zh-CN" altLang="en-US" sz="2000" dirty="0"/>
              <a:t>进阶：选择一种</a:t>
            </a:r>
            <a:r>
              <a:rPr lang="en-US" altLang="zh-CN" sz="2000" dirty="0"/>
              <a:t>base</a:t>
            </a:r>
            <a:r>
              <a:rPr lang="zh-CN" altLang="en-US" sz="2000" dirty="0"/>
              <a:t>方法进行复现拓展</a:t>
            </a:r>
            <a:endParaRPr lang="en-US" altLang="zh-CN" sz="1800" dirty="0"/>
          </a:p>
          <a:p>
            <a:pPr lvl="1"/>
            <a:endParaRPr lang="en-US" altLang="zh-CN" sz="1800" dirty="0"/>
          </a:p>
          <a:p>
            <a:pPr lvl="1"/>
            <a:endParaRPr lang="en" altLang="zh-CN" sz="1800" dirty="0"/>
          </a:p>
        </p:txBody>
      </p:sp>
      <p:sp>
        <p:nvSpPr>
          <p:cNvPr id="6" name="Rectangle 1">
            <a:extLst>
              <a:ext uri="{FF2B5EF4-FFF2-40B4-BE49-F238E27FC236}">
                <a16:creationId xmlns:a16="http://schemas.microsoft.com/office/drawing/2014/main" id="{C7606CC7-5F82-E7BE-7A55-A2B3D1B58673}"/>
              </a:ext>
            </a:extLst>
          </p:cNvPr>
          <p:cNvSpPr>
            <a:spLocks noChangeArrowheads="1"/>
          </p:cNvSpPr>
          <p:nvPr/>
        </p:nvSpPr>
        <p:spPr bwMode="auto">
          <a:xfrm>
            <a:off x="581192" y="6593451"/>
            <a:ext cx="11228736" cy="261063"/>
          </a:xfrm>
          <a:prstGeom prst="rect">
            <a:avLst/>
          </a:prstGeom>
        </p:spPr>
        <p:txBody>
          <a:bodyPr vert="horz" lIns="91440" tIns="45720" rIns="91440" bIns="45720" rtlCol="0" anchor="t">
            <a:normAutofit fontScale="62500" lnSpcReduction="20000"/>
          </a:bodyPr>
          <a:lstStyle/>
          <a:p>
            <a:pPr defTabSz="457189">
              <a:spcBef>
                <a:spcPct val="20000"/>
              </a:spcBef>
              <a:spcAft>
                <a:spcPts val="600"/>
              </a:spcAft>
              <a:buClr>
                <a:srgbClr val="0E419C"/>
              </a:buClr>
              <a:buSzPct val="92000"/>
            </a:pPr>
            <a:r>
              <a:rPr lang="en-US" altLang="zh-CN" sz="2000" dirty="0">
                <a:solidFill>
                  <a:schemeClr val="tx2"/>
                </a:solidFill>
              </a:rPr>
              <a:t>notebook</a:t>
            </a:r>
            <a:r>
              <a:rPr lang="zh-CN" altLang="en-US" sz="2000" dirty="0">
                <a:solidFill>
                  <a:schemeClr val="tx2"/>
                </a:solidFill>
              </a:rPr>
              <a:t>以</a:t>
            </a:r>
            <a:r>
              <a:rPr lang="en-US" altLang="zh-CN" sz="2000" dirty="0">
                <a:solidFill>
                  <a:schemeClr val="tx2"/>
                </a:solidFill>
              </a:rPr>
              <a:t>WISA</a:t>
            </a:r>
            <a:r>
              <a:rPr lang="zh-CN" altLang="en-US" sz="2000" dirty="0">
                <a:solidFill>
                  <a:schemeClr val="tx2"/>
                </a:solidFill>
              </a:rPr>
              <a:t>方法为例：</a:t>
            </a:r>
            <a:r>
              <a:rPr lang="zh-CN" altLang="zh-CN" sz="2000" dirty="0">
                <a:solidFill>
                  <a:schemeClr val="tx2"/>
                </a:solidFill>
              </a:rPr>
              <a:t>用类似小波、多尺度或时序卷积的方式增强 spike 表征，再把 latent representation 解码成</a:t>
            </a:r>
            <a:r>
              <a:rPr lang="zh-CN" altLang="en-US" sz="2000" dirty="0">
                <a:solidFill>
                  <a:schemeClr val="tx2"/>
                </a:solidFill>
              </a:rPr>
              <a:t>视频帧</a:t>
            </a:r>
            <a:r>
              <a:rPr lang="zh-CN" altLang="zh-CN" sz="2000" dirty="0">
                <a:solidFill>
                  <a:schemeClr val="tx2"/>
                </a:solidFill>
              </a:rPr>
              <a:t>。</a:t>
            </a:r>
          </a:p>
        </p:txBody>
      </p:sp>
      <p:sp>
        <p:nvSpPr>
          <p:cNvPr id="2" name="Rectangle 1">
            <a:extLst>
              <a:ext uri="{FF2B5EF4-FFF2-40B4-BE49-F238E27FC236}">
                <a16:creationId xmlns:a16="http://schemas.microsoft.com/office/drawing/2014/main" id="{57298E56-AAF7-3C11-34EB-FBB9EC84EF03}"/>
              </a:ext>
            </a:extLst>
          </p:cNvPr>
          <p:cNvSpPr>
            <a:spLocks noChangeArrowheads="1"/>
          </p:cNvSpPr>
          <p:nvPr/>
        </p:nvSpPr>
        <p:spPr bwMode="auto">
          <a:xfrm>
            <a:off x="830623" y="2682153"/>
            <a:ext cx="9362940" cy="4041829"/>
          </a:xfrm>
          <a:prstGeom prst="rect">
            <a:avLst/>
          </a:prstGeom>
        </p:spPr>
        <p:txBody>
          <a:bodyPr vert="horz" lIns="91440" tIns="45720" rIns="91440" bIns="45720" rtlCol="0" anchor="t">
            <a:normAutofit fontScale="92500" lnSpcReduction="10000"/>
          </a:bodyPr>
          <a:lstStyle/>
          <a:p>
            <a:pPr marL="305992" indent="-305992" defTabSz="457189">
              <a:spcBef>
                <a:spcPct val="20000"/>
              </a:spcBef>
              <a:spcAft>
                <a:spcPts val="600"/>
              </a:spcAft>
              <a:buClr>
                <a:srgbClr val="0E419C"/>
              </a:buClr>
              <a:buSzPct val="92000"/>
              <a:buFont typeface="Wingdings 2" panose="05020102010507070707" pitchFamily="18" charset="2"/>
              <a:buChar char=""/>
            </a:pPr>
            <a:r>
              <a:rPr lang="zh-CN" altLang="zh-CN" sz="1100" dirty="0">
                <a:solidFill>
                  <a:schemeClr val="tx2"/>
                </a:solidFill>
              </a:rPr>
              <a:t>Baseline 1：SID / Deep Neural Network Decoder</a:t>
            </a:r>
          </a:p>
          <a:p>
            <a:pPr defTabSz="457189">
              <a:spcBef>
                <a:spcPct val="20000"/>
              </a:spcBef>
              <a:spcAft>
                <a:spcPts val="600"/>
              </a:spcAft>
              <a:buClr>
                <a:srgbClr val="0E419C"/>
              </a:buClr>
              <a:buSzPct val="92000"/>
            </a:pPr>
            <a:r>
              <a:rPr lang="zh-CN" altLang="zh-CN" sz="1100" dirty="0">
                <a:solidFill>
                  <a:schemeClr val="tx2"/>
                </a:solidFill>
              </a:rPr>
              <a:t>Zhang et al., Reconstruction of Natural Visual Scenes from Neural Spikes with Deep Neural Networks, Neural Networks, 2020.</a:t>
            </a:r>
          </a:p>
          <a:p>
            <a:pPr defTabSz="457189">
              <a:spcBef>
                <a:spcPct val="20000"/>
              </a:spcBef>
              <a:spcAft>
                <a:spcPts val="600"/>
              </a:spcAft>
              <a:buClr>
                <a:srgbClr val="0E419C"/>
              </a:buClr>
              <a:buSzPct val="92000"/>
            </a:pPr>
            <a:r>
              <a:rPr lang="zh-CN" altLang="zh-CN" sz="1100" dirty="0">
                <a:solidFill>
                  <a:schemeClr val="tx2"/>
                </a:solidFill>
              </a:rPr>
              <a:t>Code: </a:t>
            </a:r>
            <a:r>
              <a:rPr lang="zh-CN" altLang="zh-CN" sz="1100" dirty="0">
                <a:solidFill>
                  <a:schemeClr val="tx2"/>
                </a:solidFill>
                <a:hlinkClick r:id="rId3"/>
              </a:rPr>
              <a:t>https://github.com/jiankliu/Spike-Image-Decoder</a:t>
            </a:r>
            <a:endParaRPr lang="zh-CN" altLang="zh-CN" sz="1100" dirty="0">
              <a:solidFill>
                <a:schemeClr val="tx2"/>
              </a:solidFill>
            </a:endParaRPr>
          </a:p>
          <a:p>
            <a:pPr marL="305992" indent="-305992" defTabSz="457189">
              <a:spcBef>
                <a:spcPct val="20000"/>
              </a:spcBef>
              <a:spcAft>
                <a:spcPts val="600"/>
              </a:spcAft>
              <a:buClr>
                <a:srgbClr val="0E419C"/>
              </a:buClr>
              <a:buSzPct val="92000"/>
              <a:buFont typeface="Wingdings 2" panose="05020102010507070707" pitchFamily="18" charset="2"/>
              <a:buChar char=""/>
            </a:pPr>
            <a:r>
              <a:rPr lang="zh-CN" altLang="zh-CN" sz="1100" dirty="0">
                <a:solidFill>
                  <a:schemeClr val="tx2"/>
                </a:solidFill>
              </a:rPr>
              <a:t>Baseline 2：Robust Dynamic Visual Scene Decoder</a:t>
            </a:r>
          </a:p>
          <a:p>
            <a:pPr defTabSz="457189">
              <a:spcBef>
                <a:spcPct val="20000"/>
              </a:spcBef>
              <a:spcAft>
                <a:spcPts val="600"/>
              </a:spcAft>
              <a:buClr>
                <a:srgbClr val="0E419C"/>
              </a:buClr>
              <a:buSzPct val="92000"/>
            </a:pPr>
            <a:r>
              <a:rPr lang="zh-CN" altLang="zh-CN" sz="1100" dirty="0">
                <a:solidFill>
                  <a:schemeClr val="tx2"/>
                </a:solidFill>
              </a:rPr>
              <a:t>Yu et al., Robust Decoding of Rich Dynamical Visual Scenes With Retinal Spikes, IEEE Transactions on Neural Networks and Learning Systems, 2024.</a:t>
            </a:r>
          </a:p>
          <a:p>
            <a:pPr marL="305992" indent="-305992" defTabSz="457189">
              <a:spcBef>
                <a:spcPct val="20000"/>
              </a:spcBef>
              <a:spcAft>
                <a:spcPts val="600"/>
              </a:spcAft>
              <a:buClr>
                <a:srgbClr val="0E419C"/>
              </a:buClr>
              <a:buSzPct val="92000"/>
              <a:buFont typeface="Wingdings 2" panose="05020102010507070707" pitchFamily="18" charset="2"/>
              <a:buChar char=""/>
            </a:pPr>
            <a:r>
              <a:rPr lang="zh-CN" altLang="zh-CN" sz="1100" dirty="0">
                <a:solidFill>
                  <a:schemeClr val="tx2"/>
                </a:solidFill>
              </a:rPr>
              <a:t>Baseline 3：WISA / Wavelet-Informed Spike Augmentation</a:t>
            </a:r>
          </a:p>
          <a:p>
            <a:pPr defTabSz="457189">
              <a:spcBef>
                <a:spcPct val="20000"/>
              </a:spcBef>
              <a:spcAft>
                <a:spcPts val="600"/>
              </a:spcAft>
              <a:buClr>
                <a:srgbClr val="0E419C"/>
              </a:buClr>
              <a:buSzPct val="92000"/>
            </a:pPr>
            <a:r>
              <a:rPr lang="zh-CN" altLang="zh-CN" sz="1100" dirty="0">
                <a:solidFill>
                  <a:schemeClr val="tx2"/>
                </a:solidFill>
              </a:rPr>
              <a:t>Peng et al., Decoding Natural Visual Scenes via Learnable Representations of Neural Spiking Sequences, Neural Networks, 2025.</a:t>
            </a:r>
          </a:p>
          <a:p>
            <a:pPr defTabSz="457189">
              <a:spcBef>
                <a:spcPct val="20000"/>
              </a:spcBef>
              <a:spcAft>
                <a:spcPts val="600"/>
              </a:spcAft>
              <a:buClr>
                <a:srgbClr val="0E419C"/>
              </a:buClr>
              <a:buSzPct val="92000"/>
            </a:pPr>
            <a:r>
              <a:rPr lang="zh-CN" altLang="zh-CN" sz="1100" dirty="0">
                <a:solidFill>
                  <a:schemeClr val="tx2"/>
                </a:solidFill>
              </a:rPr>
              <a:t>Code: </a:t>
            </a:r>
            <a:r>
              <a:rPr lang="zh-CN" altLang="zh-CN" sz="1100" dirty="0">
                <a:solidFill>
                  <a:schemeClr val="tx2"/>
                </a:solidFill>
                <a:hlinkClick r:id="rId4"/>
              </a:rPr>
              <a:t>https://github.com/jiankliu/WISA</a:t>
            </a:r>
            <a:endParaRPr lang="zh-CN" altLang="zh-CN" sz="1100" dirty="0">
              <a:solidFill>
                <a:schemeClr val="tx2"/>
              </a:solidFill>
            </a:endParaRPr>
          </a:p>
          <a:p>
            <a:pPr marL="305992" indent="-305992" defTabSz="457189">
              <a:spcBef>
                <a:spcPct val="20000"/>
              </a:spcBef>
              <a:spcAft>
                <a:spcPts val="600"/>
              </a:spcAft>
              <a:buClr>
                <a:srgbClr val="0E419C"/>
              </a:buClr>
              <a:buSzPct val="92000"/>
              <a:buFont typeface="Wingdings 2" panose="05020102010507070707" pitchFamily="18" charset="2"/>
              <a:buChar char=""/>
            </a:pPr>
            <a:r>
              <a:rPr lang="zh-CN" altLang="zh-CN" sz="1100" dirty="0">
                <a:solidFill>
                  <a:schemeClr val="tx2"/>
                </a:solidFill>
              </a:rPr>
              <a:t>Baseline 4：S2INet / Brain-Inspired Decoder</a:t>
            </a:r>
          </a:p>
          <a:p>
            <a:pPr defTabSz="457189">
              <a:spcBef>
                <a:spcPct val="20000"/>
              </a:spcBef>
              <a:spcAft>
                <a:spcPts val="600"/>
              </a:spcAft>
              <a:buClr>
                <a:srgbClr val="0E419C"/>
              </a:buClr>
              <a:buSzPct val="92000"/>
            </a:pPr>
            <a:r>
              <a:rPr lang="zh-CN" altLang="zh-CN" sz="1100" dirty="0">
                <a:solidFill>
                  <a:schemeClr val="tx2"/>
                </a:solidFill>
              </a:rPr>
              <a:t>Li et al., The Brain-Inspired Decoder for Natural Visual Image Reconstruction, Frontiers in Neuroscience, 2023.</a:t>
            </a:r>
          </a:p>
          <a:p>
            <a:pPr defTabSz="457189">
              <a:spcBef>
                <a:spcPct val="20000"/>
              </a:spcBef>
              <a:spcAft>
                <a:spcPts val="600"/>
              </a:spcAft>
              <a:buClr>
                <a:srgbClr val="0E419C"/>
              </a:buClr>
              <a:buSzPct val="92000"/>
            </a:pPr>
            <a:r>
              <a:rPr lang="zh-CN" altLang="zh-CN" sz="1100" dirty="0">
                <a:solidFill>
                  <a:schemeClr val="tx2"/>
                </a:solidFill>
              </a:rPr>
              <a:t>Code: </a:t>
            </a:r>
            <a:r>
              <a:rPr lang="zh-CN" altLang="zh-CN" sz="1100" dirty="0">
                <a:solidFill>
                  <a:schemeClr val="tx2"/>
                </a:solidFill>
                <a:hlinkClick r:id="rId5"/>
              </a:rPr>
              <a:t>https://github.com/WYCAS/S2INet</a:t>
            </a:r>
            <a:endParaRPr lang="zh-CN" altLang="zh-CN" sz="1100" dirty="0">
              <a:solidFill>
                <a:schemeClr val="tx2"/>
              </a:solidFill>
            </a:endParaRPr>
          </a:p>
          <a:p>
            <a:pPr marL="305992" indent="-305992" defTabSz="457189">
              <a:spcBef>
                <a:spcPct val="20000"/>
              </a:spcBef>
              <a:spcAft>
                <a:spcPts val="600"/>
              </a:spcAft>
              <a:buClr>
                <a:srgbClr val="0E419C"/>
              </a:buClr>
              <a:buSzPct val="92000"/>
              <a:buFont typeface="Wingdings 2" panose="05020102010507070707" pitchFamily="18" charset="2"/>
              <a:buChar char=""/>
            </a:pPr>
            <a:r>
              <a:rPr lang="zh-CN" altLang="zh-CN" sz="1100" dirty="0">
                <a:solidFill>
                  <a:schemeClr val="tx2"/>
                </a:solidFill>
              </a:rPr>
              <a:t>Baseline </a:t>
            </a:r>
            <a:r>
              <a:rPr lang="en-US" altLang="zh-CN" sz="1100" dirty="0">
                <a:solidFill>
                  <a:schemeClr val="tx2"/>
                </a:solidFill>
              </a:rPr>
              <a:t>5</a:t>
            </a:r>
            <a:r>
              <a:rPr lang="zh-CN" altLang="zh-CN" sz="1100" dirty="0">
                <a:solidFill>
                  <a:schemeClr val="tx2"/>
                </a:solidFill>
              </a:rPr>
              <a:t>：Nonlinear Decoding of Natural Images From Large-Scale Primate Retinal Ganglion Recordings</a:t>
            </a:r>
            <a:endParaRPr lang="en-US" altLang="zh-CN" sz="1100" dirty="0">
              <a:solidFill>
                <a:schemeClr val="tx2"/>
              </a:solidFill>
            </a:endParaRPr>
          </a:p>
          <a:p>
            <a:pPr defTabSz="457189">
              <a:spcBef>
                <a:spcPct val="20000"/>
              </a:spcBef>
              <a:spcAft>
                <a:spcPts val="600"/>
              </a:spcAft>
              <a:buClr>
                <a:srgbClr val="0E419C"/>
              </a:buClr>
              <a:buSzPct val="92000"/>
            </a:pPr>
            <a:r>
              <a:rPr lang="en-US" altLang="zh-CN" sz="1100" dirty="0"/>
              <a:t>Kim, Y. J. </a:t>
            </a:r>
            <a:r>
              <a:rPr lang="en-US" altLang="zh-CN" sz="1100" i="1" dirty="0"/>
              <a:t>et al.</a:t>
            </a:r>
            <a:r>
              <a:rPr lang="en-US" altLang="zh-CN" sz="1100" dirty="0"/>
              <a:t> Nonlinear Decoding of Natural Images From Large-Scale Primate Retinal Ganglion Recordings. </a:t>
            </a:r>
            <a:r>
              <a:rPr lang="en-US" altLang="zh-CN" sz="1100" i="1" dirty="0"/>
              <a:t>Neural Computation</a:t>
            </a:r>
            <a:r>
              <a:rPr lang="en-US" altLang="zh-CN" sz="1100" dirty="0"/>
              <a:t> 33, 1719–1750 (2021).</a:t>
            </a:r>
            <a:endParaRPr lang="en-US" altLang="zh-CN" sz="1100" dirty="0">
              <a:solidFill>
                <a:schemeClr val="tx2"/>
              </a:solidFill>
            </a:endParaRPr>
          </a:p>
          <a:p>
            <a:pPr defTabSz="457189">
              <a:spcBef>
                <a:spcPct val="20000"/>
              </a:spcBef>
              <a:spcAft>
                <a:spcPts val="600"/>
              </a:spcAft>
              <a:buClr>
                <a:srgbClr val="0E419C"/>
              </a:buClr>
              <a:buSzPct val="92000"/>
            </a:pPr>
            <a:r>
              <a:rPr lang="zh-CN" altLang="zh-CN" sz="1100" dirty="0">
                <a:solidFill>
                  <a:schemeClr val="tx2"/>
                </a:solidFill>
              </a:rPr>
              <a:t>Code: </a:t>
            </a:r>
            <a:r>
              <a:rPr lang="en" altLang="zh-CN" sz="1100" dirty="0">
                <a:solidFill>
                  <a:schemeClr val="tx2"/>
                </a:solidFill>
                <a:hlinkClick r:id="rId6"/>
              </a:rPr>
              <a:t>https://github.com/yjkimnada/ns_decoding</a:t>
            </a:r>
            <a:endParaRPr lang="en-US" altLang="zh-CN" sz="1100" dirty="0">
              <a:solidFill>
                <a:schemeClr val="tx2"/>
              </a:solidFill>
            </a:endParaRPr>
          </a:p>
          <a:p>
            <a:pPr marL="305992" indent="-305992" defTabSz="457189">
              <a:spcBef>
                <a:spcPct val="20000"/>
              </a:spcBef>
              <a:spcAft>
                <a:spcPts val="600"/>
              </a:spcAft>
              <a:buClr>
                <a:srgbClr val="0E419C"/>
              </a:buClr>
              <a:buSzPct val="92000"/>
              <a:buFont typeface="Wingdings 2" panose="05020102010507070707" pitchFamily="18" charset="2"/>
              <a:buChar char=""/>
            </a:pPr>
            <a:r>
              <a:rPr lang="zh-CN" altLang="zh-CN" sz="1100" dirty="0">
                <a:solidFill>
                  <a:schemeClr val="tx2"/>
                </a:solidFill>
              </a:rPr>
              <a:t>Baseline </a:t>
            </a:r>
            <a:r>
              <a:rPr lang="en-US" altLang="zh-CN" sz="1100" dirty="0">
                <a:solidFill>
                  <a:schemeClr val="tx2"/>
                </a:solidFill>
              </a:rPr>
              <a:t>6</a:t>
            </a:r>
            <a:r>
              <a:rPr lang="zh-CN" altLang="zh-CN" sz="1100" dirty="0">
                <a:solidFill>
                  <a:schemeClr val="tx2"/>
                </a:solidFill>
              </a:rPr>
              <a:t>：Neural Encoding and Decoding With a Flow-Based Invertible Generative Model</a:t>
            </a:r>
            <a:r>
              <a:rPr lang="en-US" altLang="zh-CN" sz="1100" dirty="0">
                <a:solidFill>
                  <a:srgbClr val="C00000"/>
                </a:solidFill>
              </a:rPr>
              <a:t>(</a:t>
            </a:r>
            <a:r>
              <a:rPr lang="zh-CN" altLang="en-US" sz="1100" dirty="0">
                <a:solidFill>
                  <a:srgbClr val="C00000"/>
                </a:solidFill>
              </a:rPr>
              <a:t>较难</a:t>
            </a:r>
            <a:r>
              <a:rPr lang="en-US" altLang="zh-CN" sz="1100" dirty="0">
                <a:solidFill>
                  <a:srgbClr val="C00000"/>
                </a:solidFill>
              </a:rPr>
              <a:t>)</a:t>
            </a:r>
          </a:p>
          <a:p>
            <a:pPr defTabSz="457189">
              <a:spcBef>
                <a:spcPct val="20000"/>
              </a:spcBef>
              <a:spcAft>
                <a:spcPts val="600"/>
              </a:spcAft>
              <a:buClr>
                <a:srgbClr val="0E419C"/>
              </a:buClr>
              <a:buSzPct val="92000"/>
            </a:pPr>
            <a:r>
              <a:rPr lang="en-US" altLang="zh-CN" sz="1100" dirty="0"/>
              <a:t>Zhou, Q. </a:t>
            </a:r>
            <a:r>
              <a:rPr lang="en-US" altLang="zh-CN" sz="1100" i="1" dirty="0"/>
              <a:t>et al.</a:t>
            </a:r>
            <a:r>
              <a:rPr lang="en-US" altLang="zh-CN" sz="1100" dirty="0"/>
              <a:t> Neural Encoding and Decoding With a Flow-Based Invertible Generative Model. </a:t>
            </a:r>
            <a:r>
              <a:rPr lang="en-US" altLang="zh-CN" sz="1100" i="1" dirty="0"/>
              <a:t>IEEE Trans. </a:t>
            </a:r>
            <a:r>
              <a:rPr lang="en-US" altLang="zh-CN" sz="1100" i="1" dirty="0" err="1"/>
              <a:t>Cogn</a:t>
            </a:r>
            <a:r>
              <a:rPr lang="en-US" altLang="zh-CN" sz="1100" i="1" dirty="0"/>
              <a:t>. Dev. Syst.</a:t>
            </a:r>
            <a:r>
              <a:rPr lang="en-US" altLang="zh-CN" sz="1100" dirty="0"/>
              <a:t> 15, 724–736 (2023).</a:t>
            </a:r>
            <a:endParaRPr lang="zh-CN" altLang="zh-CN" sz="1100" dirty="0">
              <a:solidFill>
                <a:srgbClr val="C00000"/>
              </a:solidFill>
            </a:endParaRPr>
          </a:p>
          <a:p>
            <a:pPr marL="305992" indent="-305992" defTabSz="457189">
              <a:spcBef>
                <a:spcPct val="20000"/>
              </a:spcBef>
              <a:spcAft>
                <a:spcPts val="600"/>
              </a:spcAft>
              <a:buClr>
                <a:srgbClr val="0E419C"/>
              </a:buClr>
              <a:buSzPct val="92000"/>
              <a:buFont typeface="Wingdings 2" panose="05020102010507070707" pitchFamily="18" charset="2"/>
              <a:buChar char=""/>
            </a:pPr>
            <a:endParaRPr lang="zh-CN" altLang="zh-CN" sz="1100" dirty="0">
              <a:solidFill>
                <a:schemeClr val="tx2"/>
              </a:solidFill>
            </a:endParaRPr>
          </a:p>
          <a:p>
            <a:pPr marL="305992" indent="-305992" defTabSz="457189">
              <a:spcBef>
                <a:spcPct val="20000"/>
              </a:spcBef>
              <a:spcAft>
                <a:spcPts val="600"/>
              </a:spcAft>
              <a:buClr>
                <a:srgbClr val="0E419C"/>
              </a:buClr>
              <a:buSzPct val="92000"/>
              <a:buFont typeface="Wingdings 2" panose="05020102010507070707" pitchFamily="18" charset="2"/>
              <a:buChar char=""/>
            </a:pPr>
            <a:endParaRPr lang="zh-CN" altLang="zh-CN" sz="1100" dirty="0">
              <a:solidFill>
                <a:schemeClr val="tx2"/>
              </a:solidFill>
            </a:endParaRPr>
          </a:p>
        </p:txBody>
      </p:sp>
    </p:spTree>
    <p:extLst>
      <p:ext uri="{BB962C8B-B14F-4D97-AF65-F5344CB8AC3E}">
        <p14:creationId xmlns:p14="http://schemas.microsoft.com/office/powerpoint/2010/main" val="985442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76CB9-E74E-7EEA-BFFF-980F825CEE1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C97861D-5029-BF88-A964-3A4A80CA6BF9}"/>
              </a:ext>
            </a:extLst>
          </p:cNvPr>
          <p:cNvSpPr>
            <a:spLocks noGrp="1"/>
          </p:cNvSpPr>
          <p:nvPr>
            <p:ph type="title"/>
          </p:nvPr>
        </p:nvSpPr>
        <p:spPr/>
        <p:txBody>
          <a:bodyPr/>
          <a:lstStyle/>
          <a:p>
            <a:r>
              <a:rPr kumimoji="1" lang="zh-CN" altLang="en-US" dirty="0"/>
              <a:t>评测</a:t>
            </a:r>
          </a:p>
        </p:txBody>
      </p:sp>
      <p:sp>
        <p:nvSpPr>
          <p:cNvPr id="5" name="Rectangle 1">
            <a:extLst>
              <a:ext uri="{FF2B5EF4-FFF2-40B4-BE49-F238E27FC236}">
                <a16:creationId xmlns:a16="http://schemas.microsoft.com/office/drawing/2014/main" id="{FF5A1F2D-D80C-324B-B76B-5F68763E87A7}"/>
              </a:ext>
            </a:extLst>
          </p:cNvPr>
          <p:cNvSpPr>
            <a:spLocks noChangeArrowheads="1"/>
          </p:cNvSpPr>
          <p:nvPr/>
        </p:nvSpPr>
        <p:spPr bwMode="auto">
          <a:xfrm>
            <a:off x="581192" y="1960492"/>
            <a:ext cx="5680722" cy="1915298"/>
          </a:xfrm>
          <a:prstGeom prst="rect">
            <a:avLst/>
          </a:prstGeom>
        </p:spPr>
        <p:txBody>
          <a:bodyPr vert="horz" lIns="91440" tIns="45720" rIns="91440" bIns="45720" rtlCol="0" anchor="t">
            <a:normAutofit fontScale="92500" lnSpcReduction="20000"/>
          </a:bodyPr>
          <a:lstStyle/>
          <a:p>
            <a:pPr defTabSz="457189">
              <a:spcBef>
                <a:spcPct val="20000"/>
              </a:spcBef>
              <a:spcAft>
                <a:spcPts val="600"/>
              </a:spcAft>
              <a:buClr>
                <a:srgbClr val="0E419C"/>
              </a:buClr>
              <a:buSzPct val="92000"/>
            </a:pPr>
            <a:r>
              <a:rPr lang="zh-CN" altLang="en-US" sz="2000" dirty="0">
                <a:solidFill>
                  <a:schemeClr val="tx2"/>
                </a:solidFill>
              </a:rPr>
              <a:t>指标：</a:t>
            </a:r>
            <a:endParaRPr lang="zh-CN" altLang="zh-CN" sz="2000" dirty="0">
              <a:solidFill>
                <a:schemeClr val="tx2"/>
              </a:solidFill>
            </a:endParaRPr>
          </a:p>
          <a:p>
            <a:pPr marL="305992" indent="-305992" defTabSz="457189">
              <a:spcBef>
                <a:spcPct val="20000"/>
              </a:spcBef>
              <a:spcAft>
                <a:spcPts val="600"/>
              </a:spcAft>
              <a:buClr>
                <a:srgbClr val="0E419C"/>
              </a:buClr>
              <a:buSzPct val="92000"/>
              <a:buFont typeface="Wingdings 2" panose="05020102010507070707" pitchFamily="18" charset="2"/>
              <a:buChar char=""/>
            </a:pPr>
            <a:r>
              <a:rPr lang="zh-CN" altLang="zh-CN" sz="2000" dirty="0">
                <a:solidFill>
                  <a:schemeClr val="tx2"/>
                </a:solidFill>
              </a:rPr>
              <a:t>MSE：像素级误差；</a:t>
            </a:r>
          </a:p>
          <a:p>
            <a:pPr marL="305992" indent="-305992" defTabSz="457189">
              <a:spcBef>
                <a:spcPct val="20000"/>
              </a:spcBef>
              <a:spcAft>
                <a:spcPts val="600"/>
              </a:spcAft>
              <a:buClr>
                <a:srgbClr val="0E419C"/>
              </a:buClr>
              <a:buSzPct val="92000"/>
              <a:buFont typeface="Wingdings 2" panose="05020102010507070707" pitchFamily="18" charset="2"/>
              <a:buChar char=""/>
            </a:pPr>
            <a:r>
              <a:rPr lang="zh-CN" altLang="zh-CN" sz="2000" dirty="0">
                <a:solidFill>
                  <a:schemeClr val="tx2"/>
                </a:solidFill>
              </a:rPr>
              <a:t>PSNR：峰值信噪比，图像重建任务常用；</a:t>
            </a:r>
          </a:p>
          <a:p>
            <a:pPr marL="305992" indent="-305992" defTabSz="457189">
              <a:spcBef>
                <a:spcPct val="20000"/>
              </a:spcBef>
              <a:spcAft>
                <a:spcPts val="600"/>
              </a:spcAft>
              <a:buClr>
                <a:srgbClr val="0E419C"/>
              </a:buClr>
              <a:buSzPct val="92000"/>
              <a:buFont typeface="Wingdings 2" panose="05020102010507070707" pitchFamily="18" charset="2"/>
              <a:buChar char=""/>
            </a:pPr>
            <a:r>
              <a:rPr lang="zh-CN" altLang="zh-CN" sz="2000" dirty="0">
                <a:solidFill>
                  <a:schemeClr val="tx2"/>
                </a:solidFill>
              </a:rPr>
              <a:t>SSIM：结构相似性，更关注结构和感知相似度。</a:t>
            </a:r>
            <a:endParaRPr lang="en-US" altLang="zh-CN" sz="2000" dirty="0">
              <a:solidFill>
                <a:schemeClr val="tx2"/>
              </a:solidFill>
            </a:endParaRPr>
          </a:p>
          <a:p>
            <a:pPr marL="305992" indent="-305992" defTabSz="457189">
              <a:spcBef>
                <a:spcPct val="20000"/>
              </a:spcBef>
              <a:spcAft>
                <a:spcPts val="600"/>
              </a:spcAft>
              <a:buClr>
                <a:srgbClr val="0E419C"/>
              </a:buClr>
              <a:buSzPct val="92000"/>
              <a:buFont typeface="Wingdings 2" panose="05020102010507070707" pitchFamily="18" charset="2"/>
              <a:buChar char=""/>
            </a:pPr>
            <a:r>
              <a:rPr lang="zh-CN" altLang="en-US" sz="2000" dirty="0">
                <a:solidFill>
                  <a:schemeClr val="tx2"/>
                </a:solidFill>
              </a:rPr>
              <a:t>可视化结果（</a:t>
            </a:r>
            <a:r>
              <a:rPr lang="en-US" altLang="zh-CN" sz="2000" dirty="0">
                <a:solidFill>
                  <a:schemeClr val="tx2"/>
                </a:solidFill>
              </a:rPr>
              <a:t>GT</a:t>
            </a:r>
            <a:r>
              <a:rPr lang="zh-CN" altLang="en-US" sz="2000" dirty="0">
                <a:solidFill>
                  <a:schemeClr val="tx2"/>
                </a:solidFill>
              </a:rPr>
              <a:t> </a:t>
            </a:r>
            <a:r>
              <a:rPr lang="en-US" altLang="zh-CN" sz="2000" dirty="0">
                <a:solidFill>
                  <a:schemeClr val="tx2"/>
                </a:solidFill>
              </a:rPr>
              <a:t>V.S. </a:t>
            </a:r>
            <a:r>
              <a:rPr lang="zh-CN" altLang="en-US" sz="2000" dirty="0">
                <a:solidFill>
                  <a:schemeClr val="tx2"/>
                </a:solidFill>
              </a:rPr>
              <a:t>重建结果）</a:t>
            </a:r>
            <a:endParaRPr lang="zh-CN" altLang="zh-CN" sz="2000" dirty="0">
              <a:solidFill>
                <a:schemeClr val="tx2"/>
              </a:solidFill>
            </a:endParaRPr>
          </a:p>
          <a:p>
            <a:pPr marL="305992" indent="-305992" defTabSz="457189">
              <a:spcBef>
                <a:spcPct val="20000"/>
              </a:spcBef>
              <a:spcAft>
                <a:spcPts val="600"/>
              </a:spcAft>
              <a:buClr>
                <a:srgbClr val="0E419C"/>
              </a:buClr>
              <a:buSzPct val="92000"/>
              <a:buFont typeface="Wingdings 2" panose="05020102010507070707" pitchFamily="18" charset="2"/>
              <a:buChar char=""/>
            </a:pPr>
            <a:endParaRPr lang="zh-CN" altLang="zh-CN" sz="2000" dirty="0">
              <a:solidFill>
                <a:schemeClr val="tx2"/>
              </a:solidFill>
            </a:endParaRPr>
          </a:p>
        </p:txBody>
      </p:sp>
      <p:pic>
        <p:nvPicPr>
          <p:cNvPr id="2" name="图片 1">
            <a:extLst>
              <a:ext uri="{FF2B5EF4-FFF2-40B4-BE49-F238E27FC236}">
                <a16:creationId xmlns:a16="http://schemas.microsoft.com/office/drawing/2014/main" id="{4311A8B9-C03E-D2A7-72E2-8F8048375724}"/>
              </a:ext>
            </a:extLst>
          </p:cNvPr>
          <p:cNvPicPr>
            <a:picLocks noChangeAspect="1"/>
          </p:cNvPicPr>
          <p:nvPr/>
        </p:nvPicPr>
        <p:blipFill>
          <a:blip r:embed="rId3"/>
          <a:stretch>
            <a:fillRect/>
          </a:stretch>
        </p:blipFill>
        <p:spPr>
          <a:xfrm>
            <a:off x="1612106" y="4900009"/>
            <a:ext cx="2871788" cy="850900"/>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D99D2442-4636-4FC1-8204-178E56F0045A}"/>
                  </a:ext>
                </a:extLst>
              </p:cNvPr>
              <p:cNvSpPr txBox="1"/>
              <p:nvPr/>
            </p:nvSpPr>
            <p:spPr>
              <a:xfrm>
                <a:off x="0" y="4046189"/>
                <a:ext cx="6096000" cy="6799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 altLang="zh-CN" sz="1800" kern="1200" smtClean="0">
                          <a:solidFill>
                            <a:schemeClr val="tx1"/>
                          </a:solidFill>
                          <a:latin typeface="Cambria Math" panose="02040503050406030204" pitchFamily="18" charset="0"/>
                          <a:ea typeface="+mn-ea"/>
                          <a:cs typeface="+mn-cs"/>
                        </a:rPr>
                        <m:t>M</m:t>
                      </m:r>
                      <m:r>
                        <m:rPr>
                          <m:sty m:val="p"/>
                        </m:rPr>
                        <a:rPr lang="en" altLang="zh-CN" sz="1800" i="0" kern="1200">
                          <a:solidFill>
                            <a:schemeClr val="tx1"/>
                          </a:solidFill>
                          <a:latin typeface="Cambria Math" panose="02040503050406030204" pitchFamily="18" charset="0"/>
                          <a:ea typeface="+mn-ea"/>
                          <a:cs typeface="+mn-cs"/>
                        </a:rPr>
                        <m:t>SE</m:t>
                      </m:r>
                      <m:r>
                        <a:rPr lang="en" altLang="zh-CN" sz="1800" i="0" kern="1200">
                          <a:solidFill>
                            <a:schemeClr val="tx1"/>
                          </a:solidFill>
                          <a:latin typeface="Cambria Math" panose="02040503050406030204" pitchFamily="18" charset="0"/>
                          <a:ea typeface="+mn-ea"/>
                          <a:cs typeface="+mn-cs"/>
                        </a:rPr>
                        <m:t>=</m:t>
                      </m:r>
                      <m:f>
                        <m:fPr>
                          <m:ctrlPr>
                            <a:rPr lang="ar-AE" altLang="zh-CN" sz="1800" i="1" kern="1200">
                              <a:solidFill>
                                <a:schemeClr val="tx1"/>
                              </a:solidFill>
                              <a:latin typeface="Cambria Math" panose="02040503050406030204" pitchFamily="18" charset="0"/>
                              <a:ea typeface="+mn-ea"/>
                              <a:cs typeface="+mn-cs"/>
                            </a:rPr>
                          </m:ctrlPr>
                        </m:fPr>
                        <m:num>
                          <m:r>
                            <a:rPr lang="ar-AE" altLang="zh-CN" sz="1800" i="0" kern="1200">
                              <a:solidFill>
                                <a:schemeClr val="tx1"/>
                              </a:solidFill>
                              <a:latin typeface="Cambria Math" panose="02040503050406030204" pitchFamily="18" charset="0"/>
                              <a:ea typeface="+mn-ea"/>
                              <a:cs typeface="+mn-cs"/>
                            </a:rPr>
                            <m:t>1</m:t>
                          </m:r>
                        </m:num>
                        <m:den>
                          <m:r>
                            <a:rPr lang="ar-AE" altLang="zh-CN" sz="1800" i="1" kern="1200">
                              <a:solidFill>
                                <a:schemeClr val="tx1"/>
                              </a:solidFill>
                              <a:latin typeface="Cambria Math" panose="02040503050406030204" pitchFamily="18" charset="0"/>
                              <a:ea typeface="+mn-ea"/>
                              <a:cs typeface="+mn-cs"/>
                            </a:rPr>
                            <m:t>𝐻𝑊</m:t>
                          </m:r>
                        </m:den>
                      </m:f>
                      <m:nary>
                        <m:naryPr>
                          <m:chr m:val="∑"/>
                          <m:limLoc m:val="subSup"/>
                          <m:grow m:val="on"/>
                          <m:supHide m:val="on"/>
                          <m:ctrlPr>
                            <a:rPr lang="ar-AE" altLang="zh-CN" sz="1800" i="1" kern="1200">
                              <a:solidFill>
                                <a:schemeClr val="tx1"/>
                              </a:solidFill>
                              <a:latin typeface="Cambria Math" panose="02040503050406030204" pitchFamily="18" charset="0"/>
                              <a:ea typeface="+mn-ea"/>
                              <a:cs typeface="+mn-cs"/>
                            </a:rPr>
                          </m:ctrlPr>
                        </m:naryPr>
                        <m:sub>
                          <m:r>
                            <a:rPr lang="ar-AE" altLang="zh-CN" sz="1800" i="1" kern="1200">
                              <a:solidFill>
                                <a:schemeClr val="tx1"/>
                              </a:solidFill>
                              <a:latin typeface="Cambria Math" panose="02040503050406030204" pitchFamily="18" charset="0"/>
                              <a:ea typeface="+mn-ea"/>
                              <a:cs typeface="+mn-cs"/>
                            </a:rPr>
                            <m:t>𝑖</m:t>
                          </m:r>
                          <m:r>
                            <a:rPr lang="ar-AE" altLang="zh-CN" sz="1800" i="0" kern="1200">
                              <a:solidFill>
                                <a:schemeClr val="tx1"/>
                              </a:solidFill>
                              <a:latin typeface="Cambria Math" panose="02040503050406030204" pitchFamily="18" charset="0"/>
                              <a:ea typeface="+mn-ea"/>
                              <a:cs typeface="+mn-cs"/>
                            </a:rPr>
                            <m:t>,</m:t>
                          </m:r>
                          <m:r>
                            <a:rPr lang="ar-AE" altLang="zh-CN" sz="1800" i="1" kern="1200">
                              <a:solidFill>
                                <a:schemeClr val="tx1"/>
                              </a:solidFill>
                              <a:latin typeface="Cambria Math" panose="02040503050406030204" pitchFamily="18" charset="0"/>
                              <a:ea typeface="+mn-ea"/>
                              <a:cs typeface="+mn-cs"/>
                            </a:rPr>
                            <m:t>𝑗</m:t>
                          </m:r>
                        </m:sub>
                        <m:sup/>
                        <m:e>
                          <m:r>
                            <a:rPr lang="ar-AE" altLang="zh-CN" sz="1800" i="0" kern="1200">
                              <a:solidFill>
                                <a:schemeClr val="tx1"/>
                              </a:solidFill>
                              <a:latin typeface="Cambria Math" panose="02040503050406030204" pitchFamily="18" charset="0"/>
                              <a:ea typeface="+mn-ea"/>
                              <a:cs typeface="+mn-cs"/>
                            </a:rPr>
                            <m:t>(</m:t>
                          </m:r>
                        </m:e>
                      </m:nary>
                      <m:d>
                        <m:dPr>
                          <m:begChr m:val=""/>
                          <m:endChr m:val=""/>
                          <m:ctrlPr>
                            <a:rPr lang="ar-AE" altLang="zh-CN" sz="1800" i="1" kern="1200">
                              <a:solidFill>
                                <a:schemeClr val="tx1"/>
                              </a:solidFill>
                              <a:latin typeface="Cambria Math" panose="02040503050406030204" pitchFamily="18" charset="0"/>
                              <a:ea typeface="+mn-ea"/>
                              <a:cs typeface="+mn-cs"/>
                            </a:rPr>
                          </m:ctrlPr>
                        </m:dPr>
                        <m:e>
                          <m:sSub>
                            <m:sSubPr>
                              <m:ctrlPr>
                                <a:rPr lang="ar-AE" altLang="zh-CN" sz="1800" i="1" kern="1200">
                                  <a:solidFill>
                                    <a:schemeClr val="tx1"/>
                                  </a:solidFill>
                                  <a:latin typeface="Cambria Math" panose="02040503050406030204" pitchFamily="18" charset="0"/>
                                  <a:ea typeface="+mn-ea"/>
                                  <a:cs typeface="+mn-cs"/>
                                </a:rPr>
                              </m:ctrlPr>
                            </m:sSubPr>
                            <m:e>
                              <m:r>
                                <a:rPr lang="ar-AE" altLang="zh-CN" sz="1800" i="1" kern="1200">
                                  <a:solidFill>
                                    <a:schemeClr val="tx1"/>
                                  </a:solidFill>
                                  <a:latin typeface="Cambria Math" panose="02040503050406030204" pitchFamily="18" charset="0"/>
                                  <a:ea typeface="+mn-ea"/>
                                  <a:cs typeface="+mn-cs"/>
                                </a:rPr>
                                <m:t>𝐼</m:t>
                              </m:r>
                            </m:e>
                            <m:sub>
                              <m:r>
                                <a:rPr lang="ar-AE" altLang="zh-CN" sz="1800" i="1" kern="1200">
                                  <a:solidFill>
                                    <a:schemeClr val="tx1"/>
                                  </a:solidFill>
                                  <a:latin typeface="Cambria Math" panose="02040503050406030204" pitchFamily="18" charset="0"/>
                                  <a:ea typeface="+mn-ea"/>
                                  <a:cs typeface="+mn-cs"/>
                                </a:rPr>
                                <m:t>𝑖𝑗</m:t>
                              </m:r>
                            </m:sub>
                          </m:sSub>
                          <m:r>
                            <a:rPr lang="ar-AE" altLang="zh-CN" sz="1800" i="0" kern="1200">
                              <a:solidFill>
                                <a:schemeClr val="tx1"/>
                              </a:solidFill>
                              <a:latin typeface="Cambria Math" panose="02040503050406030204" pitchFamily="18" charset="0"/>
                              <a:ea typeface="+mn-ea"/>
                              <a:cs typeface="+mn-cs"/>
                            </a:rPr>
                            <m:t>−</m:t>
                          </m:r>
                          <m:sSub>
                            <m:sSubPr>
                              <m:ctrlPr>
                                <a:rPr lang="ar-AE" altLang="zh-CN" sz="1800" i="1" kern="1200">
                                  <a:solidFill>
                                    <a:schemeClr val="tx1"/>
                                  </a:solidFill>
                                  <a:latin typeface="Cambria Math" panose="02040503050406030204" pitchFamily="18" charset="0"/>
                                  <a:ea typeface="+mn-ea"/>
                                  <a:cs typeface="+mn-cs"/>
                                </a:rPr>
                              </m:ctrlPr>
                            </m:sSubPr>
                            <m:e>
                              <m:acc>
                                <m:accPr>
                                  <m:chr m:val="̂"/>
                                  <m:ctrlPr>
                                    <a:rPr lang="ar-AE" altLang="zh-CN" sz="1800" i="1" kern="1200">
                                      <a:solidFill>
                                        <a:schemeClr val="tx1"/>
                                      </a:solidFill>
                                      <a:latin typeface="Cambria Math" panose="02040503050406030204" pitchFamily="18" charset="0"/>
                                      <a:ea typeface="+mn-ea"/>
                                      <a:cs typeface="+mn-cs"/>
                                    </a:rPr>
                                  </m:ctrlPr>
                                </m:accPr>
                                <m:e>
                                  <m:r>
                                    <a:rPr lang="ar-AE" altLang="zh-CN" sz="1800" i="1" kern="1200">
                                      <a:solidFill>
                                        <a:schemeClr val="tx1"/>
                                      </a:solidFill>
                                      <a:latin typeface="Cambria Math" panose="02040503050406030204" pitchFamily="18" charset="0"/>
                                      <a:ea typeface="+mn-ea"/>
                                      <a:cs typeface="+mn-cs"/>
                                    </a:rPr>
                                    <m:t>𝐼</m:t>
                                  </m:r>
                                </m:e>
                              </m:acc>
                            </m:e>
                            <m:sub>
                              <m:r>
                                <a:rPr lang="ar-AE" altLang="zh-CN" sz="1800" i="1" kern="1200">
                                  <a:solidFill>
                                    <a:schemeClr val="tx1"/>
                                  </a:solidFill>
                                  <a:latin typeface="Cambria Math" panose="02040503050406030204" pitchFamily="18" charset="0"/>
                                  <a:ea typeface="+mn-ea"/>
                                  <a:cs typeface="+mn-cs"/>
                                </a:rPr>
                                <m:t>𝑖𝑗</m:t>
                              </m:r>
                            </m:sub>
                          </m:sSub>
                          <m:sSup>
                            <m:sSupPr>
                              <m:ctrlPr>
                                <a:rPr lang="ar-AE" altLang="zh-CN" sz="1800" i="1" kern="1200">
                                  <a:solidFill>
                                    <a:schemeClr val="tx1"/>
                                  </a:solidFill>
                                  <a:latin typeface="Cambria Math" panose="02040503050406030204" pitchFamily="18" charset="0"/>
                                  <a:ea typeface="+mn-ea"/>
                                  <a:cs typeface="+mn-cs"/>
                                </a:rPr>
                              </m:ctrlPr>
                            </m:sSupPr>
                            <m:e>
                              <m:d>
                                <m:dPr>
                                  <m:begChr m:val=""/>
                                  <m:endChr m:val=""/>
                                  <m:ctrlPr>
                                    <a:rPr lang="ar-AE" altLang="zh-CN" sz="1800" i="1" kern="1200">
                                      <a:solidFill>
                                        <a:schemeClr val="tx1"/>
                                      </a:solidFill>
                                      <a:latin typeface="Cambria Math" panose="02040503050406030204" pitchFamily="18" charset="0"/>
                                      <a:ea typeface="+mn-ea"/>
                                      <a:cs typeface="+mn-cs"/>
                                    </a:rPr>
                                  </m:ctrlPr>
                                </m:dPr>
                                <m:e>
                                  <m:r>
                                    <a:rPr lang="ar-AE" altLang="zh-CN" sz="1800" i="0" kern="1200">
                                      <a:solidFill>
                                        <a:schemeClr val="tx1"/>
                                      </a:solidFill>
                                      <a:latin typeface="Cambria Math" panose="02040503050406030204" pitchFamily="18" charset="0"/>
                                      <a:ea typeface="+mn-ea"/>
                                      <a:cs typeface="+mn-cs"/>
                                    </a:rPr>
                                    <m:t>)</m:t>
                                  </m:r>
                                </m:e>
                              </m:d>
                            </m:e>
                            <m:sup>
                              <m:r>
                                <a:rPr lang="ar-AE" altLang="zh-CN" sz="1800" i="0" kern="1200">
                                  <a:solidFill>
                                    <a:schemeClr val="tx1"/>
                                  </a:solidFill>
                                  <a:latin typeface="Cambria Math" panose="02040503050406030204" pitchFamily="18" charset="0"/>
                                  <a:ea typeface="+mn-ea"/>
                                  <a:cs typeface="+mn-cs"/>
                                </a:rPr>
                                <m:t>2</m:t>
                              </m:r>
                            </m:sup>
                          </m:sSup>
                        </m:e>
                      </m:d>
                    </m:oMath>
                  </m:oMathPara>
                </a14:m>
                <a:endParaRPr lang="zh-CN" altLang="en-US" dirty="0"/>
              </a:p>
            </p:txBody>
          </p:sp>
        </mc:Choice>
        <mc:Fallback xmlns="">
          <p:sp>
            <p:nvSpPr>
              <p:cNvPr id="6" name="文本框 5">
                <a:extLst>
                  <a:ext uri="{FF2B5EF4-FFF2-40B4-BE49-F238E27FC236}">
                    <a16:creationId xmlns:a16="http://schemas.microsoft.com/office/drawing/2014/main" id="{D99D2442-4636-4FC1-8204-178E56F0045A}"/>
                  </a:ext>
                </a:extLst>
              </p:cNvPr>
              <p:cNvSpPr txBox="1">
                <a:spLocks noRot="1" noChangeAspect="1" noMove="1" noResize="1" noEditPoints="1" noAdjustHandles="1" noChangeArrowheads="1" noChangeShapeType="1" noTextEdit="1"/>
              </p:cNvSpPr>
              <p:nvPr/>
            </p:nvSpPr>
            <p:spPr>
              <a:xfrm>
                <a:off x="0" y="4046189"/>
                <a:ext cx="6096000" cy="679930"/>
              </a:xfrm>
              <a:prstGeom prst="rect">
                <a:avLst/>
              </a:prstGeom>
              <a:blipFill>
                <a:blip r:embed="rId4"/>
                <a:stretch>
                  <a:fillRect t="-140741" b="-203704"/>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5C441B31-C429-D756-1F3F-B30EA2A6E8CA}"/>
              </a:ext>
            </a:extLst>
          </p:cNvPr>
          <p:cNvPicPr>
            <a:picLocks noChangeAspect="1"/>
          </p:cNvPicPr>
          <p:nvPr/>
        </p:nvPicPr>
        <p:blipFill>
          <a:blip r:embed="rId5"/>
          <a:stretch>
            <a:fillRect/>
          </a:stretch>
        </p:blipFill>
        <p:spPr>
          <a:xfrm>
            <a:off x="5149058" y="4086272"/>
            <a:ext cx="5118100" cy="2336800"/>
          </a:xfrm>
          <a:prstGeom prst="rect">
            <a:avLst/>
          </a:prstGeom>
        </p:spPr>
      </p:pic>
    </p:spTree>
    <p:extLst>
      <p:ext uri="{BB962C8B-B14F-4D97-AF65-F5344CB8AC3E}">
        <p14:creationId xmlns:p14="http://schemas.microsoft.com/office/powerpoint/2010/main" val="3940146969"/>
      </p:ext>
    </p:extLst>
  </p:cSld>
  <p:clrMapOvr>
    <a:masterClrMapping/>
  </p:clrMapOvr>
</p:sld>
</file>

<file path=ppt/theme/theme1.xml><?xml version="1.0" encoding="utf-8"?>
<a:theme xmlns:a="http://schemas.openxmlformats.org/drawingml/2006/main" name="清华简约主题-留边-16:9">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5D8C9649-FBE1-4B5B-8258-8A170F9843A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15247</TotalTime>
  <Words>2606</Words>
  <Application>Microsoft Office PowerPoint</Application>
  <PresentationFormat>Panorámica</PresentationFormat>
  <Paragraphs>69</Paragraphs>
  <Slides>5</Slides>
  <Notes>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vt:i4>
      </vt:variant>
    </vt:vector>
  </HeadingPairs>
  <TitlesOfParts>
    <vt:vector size="10" baseType="lpstr">
      <vt:lpstr>等线</vt:lpstr>
      <vt:lpstr>Cambria Math</vt:lpstr>
      <vt:lpstr>Gill Sans MT</vt:lpstr>
      <vt:lpstr>Wingdings 2</vt:lpstr>
      <vt:lpstr>清华简约主题-留边-16:9</vt:lpstr>
      <vt:lpstr>Presentación de PowerPoint</vt:lpstr>
      <vt:lpstr>作业要求</vt:lpstr>
      <vt:lpstr>数据</vt:lpstr>
      <vt:lpstr>模型</vt:lpstr>
      <vt:lpstr>评测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 伟浩</dc:creator>
  <cp:lastModifiedBy>Yun yi Lu</cp:lastModifiedBy>
  <cp:revision>1252</cp:revision>
  <cp:lastPrinted>2020-04-04T02:50:47Z</cp:lastPrinted>
  <dcterms:created xsi:type="dcterms:W3CDTF">2020-01-04T07:43:38Z</dcterms:created>
  <dcterms:modified xsi:type="dcterms:W3CDTF">2026-06-10T07:08:43Z</dcterms:modified>
</cp:coreProperties>
</file>